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2.xml" ContentType="application/vnd.openxmlformats-officedocument.presentationml.notesSlide+xml"/>
  <Override PartName="/ppt/tags/tag10.xml" ContentType="application/vnd.openxmlformats-officedocument.presentationml.tags+xml"/>
  <Override PartName="/ppt/notesSlides/notesSlide3.xml" ContentType="application/vnd.openxmlformats-officedocument.presentationml.notesSlide+xml"/>
  <Override PartName="/ppt/tags/tag11.xml" ContentType="application/vnd.openxmlformats-officedocument.presentationml.tags+xml"/>
  <Override PartName="/ppt/notesSlides/notesSlide4.xml" ContentType="application/vnd.openxmlformats-officedocument.presentationml.notesSlide+xml"/>
  <Override PartName="/ppt/tags/tag12.xml" ContentType="application/vnd.openxmlformats-officedocument.presentationml.tags+xml"/>
  <Override PartName="/ppt/notesSlides/notesSlide5.xml" ContentType="application/vnd.openxmlformats-officedocument.presentationml.notesSlide+xml"/>
  <Override PartName="/ppt/tags/tag13.xml" ContentType="application/vnd.openxmlformats-officedocument.presentationml.tags+xml"/>
  <Override PartName="/ppt/notesSlides/notesSlide6.xml" ContentType="application/vnd.openxmlformats-officedocument.presentationml.notesSlide+xml"/>
  <Override PartName="/ppt/tags/tag14.xml" ContentType="application/vnd.openxmlformats-officedocument.presentationml.tags+xml"/>
  <Override PartName="/ppt/notesSlides/notesSlide7.xml" ContentType="application/vnd.openxmlformats-officedocument.presentationml.notesSlide+xml"/>
  <Override PartName="/ppt/tags/tag15.xml" ContentType="application/vnd.openxmlformats-officedocument.presentationml.tags+xml"/>
  <Override PartName="/ppt/notesSlides/notesSlide8.xml" ContentType="application/vnd.openxmlformats-officedocument.presentationml.notesSlide+xml"/>
  <Override PartName="/ppt/tags/tag16.xml" ContentType="application/vnd.openxmlformats-officedocument.presentationml.tags+xml"/>
  <Override PartName="/ppt/notesSlides/notesSlide9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notesSlides/notesSlide10.xml" ContentType="application/vnd.openxmlformats-officedocument.presentationml.notesSlide+xml"/>
  <Override PartName="/ppt/tags/tag32.xml" ContentType="application/vnd.openxmlformats-officedocument.presentationml.tags+xml"/>
  <Override PartName="/ppt/notesSlides/notesSlide11.xml" ContentType="application/vnd.openxmlformats-officedocument.presentationml.notesSlide+xml"/>
  <Override PartName="/ppt/tags/tag33.xml" ContentType="application/vnd.openxmlformats-officedocument.presentationml.tags+xml"/>
  <Override PartName="/ppt/notesSlides/notesSlide12.xml" ContentType="application/vnd.openxmlformats-officedocument.presentationml.notesSlide+xml"/>
  <Override PartName="/ppt/tags/tag34.xml" ContentType="application/vnd.openxmlformats-officedocument.presentationml.tags+xml"/>
  <Override PartName="/ppt/notesSlides/notesSlide13.xml" ContentType="application/vnd.openxmlformats-officedocument.presentationml.notesSlide+xml"/>
  <Override PartName="/ppt/tags/tag35.xml" ContentType="application/vnd.openxmlformats-officedocument.presentationml.tags+xml"/>
  <Override PartName="/ppt/notesSlides/notesSlide14.xml" ContentType="application/vnd.openxmlformats-officedocument.presentationml.notesSlide+xml"/>
  <Override PartName="/ppt/tags/tag36.xml" ContentType="application/vnd.openxmlformats-officedocument.presentationml.tags+xml"/>
  <Override PartName="/ppt/notesSlides/notesSlide15.xml" ContentType="application/vnd.openxmlformats-officedocument.presentationml.notesSlide+xml"/>
  <Override PartName="/ppt/tags/tag37.xml" ContentType="application/vnd.openxmlformats-officedocument.presentationml.tags+xml"/>
  <Override PartName="/ppt/notesSlides/notesSlide16.xml" ContentType="application/vnd.openxmlformats-officedocument.presentationml.notesSlide+xml"/>
  <Override PartName="/ppt/tags/tag38.xml" ContentType="application/vnd.openxmlformats-officedocument.presentationml.tags+xml"/>
  <Override PartName="/ppt/notesSlides/notesSlide17.xml" ContentType="application/vnd.openxmlformats-officedocument.presentationml.notesSlide+xml"/>
  <Override PartName="/ppt/tags/tag39.xml" ContentType="application/vnd.openxmlformats-officedocument.presentationml.tags+xml"/>
  <Override PartName="/ppt/notesSlides/notesSlide18.xml" ContentType="application/vnd.openxmlformats-officedocument.presentationml.notesSlide+xml"/>
  <Override PartName="/ppt/tags/tag40.xml" ContentType="application/vnd.openxmlformats-officedocument.presentationml.tags+xml"/>
  <Override PartName="/ppt/notesSlides/notesSlide19.xml" ContentType="application/vnd.openxmlformats-officedocument.presentationml.notesSlide+xml"/>
  <Override PartName="/ppt/tags/tag41.xml" ContentType="application/vnd.openxmlformats-officedocument.presentationml.tags+xml"/>
  <Override PartName="/ppt/notesSlides/notesSlide20.xml" ContentType="application/vnd.openxmlformats-officedocument.presentationml.notesSlide+xml"/>
  <Override PartName="/ppt/tags/tag42.xml" ContentType="application/vnd.openxmlformats-officedocument.presentationml.tags+xml"/>
  <Override PartName="/ppt/notesSlides/notesSlide21.xml" ContentType="application/vnd.openxmlformats-officedocument.presentationml.notesSlide+xml"/>
  <Override PartName="/ppt/tags/tag43.xml" ContentType="application/vnd.openxmlformats-officedocument.presentationml.tags+xml"/>
  <Override PartName="/ppt/notesSlides/notesSlide22.xml" ContentType="application/vnd.openxmlformats-officedocument.presentationml.notesSlide+xml"/>
  <Override PartName="/ppt/tags/tag44.xml" ContentType="application/vnd.openxmlformats-officedocument.presentationml.tags+xml"/>
  <Override PartName="/ppt/notesSlides/notesSlide23.xml" ContentType="application/vnd.openxmlformats-officedocument.presentationml.notesSlide+xml"/>
  <Override PartName="/ppt/tags/tag45.xml" ContentType="application/vnd.openxmlformats-officedocument.presentationml.tags+xml"/>
  <Override PartName="/ppt/notesSlides/notesSlide24.xml" ContentType="application/vnd.openxmlformats-officedocument.presentationml.notesSlide+xml"/>
  <Override PartName="/ppt/tags/tag46.xml" ContentType="application/vnd.openxmlformats-officedocument.presentationml.tags+xml"/>
  <Override PartName="/ppt/notesSlides/notesSlide25.xml" ContentType="application/vnd.openxmlformats-officedocument.presentationml.notesSlide+xml"/>
  <Override PartName="/ppt/tags/tag47.xml" ContentType="application/vnd.openxmlformats-officedocument.presentationml.tags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51"/>
  </p:notesMasterIdLst>
  <p:sldIdLst>
    <p:sldId id="267" r:id="rId3"/>
    <p:sldId id="680" r:id="rId4"/>
    <p:sldId id="702" r:id="rId5"/>
    <p:sldId id="543" r:id="rId6"/>
    <p:sldId id="682" r:id="rId7"/>
    <p:sldId id="588" r:id="rId8"/>
    <p:sldId id="683" r:id="rId9"/>
    <p:sldId id="616" r:id="rId10"/>
    <p:sldId id="617" r:id="rId11"/>
    <p:sldId id="597" r:id="rId12"/>
    <p:sldId id="619" r:id="rId13"/>
    <p:sldId id="618" r:id="rId14"/>
    <p:sldId id="598" r:id="rId15"/>
    <p:sldId id="684" r:id="rId16"/>
    <p:sldId id="613" r:id="rId17"/>
    <p:sldId id="620" r:id="rId18"/>
    <p:sldId id="621" r:id="rId19"/>
    <p:sldId id="706" r:id="rId20"/>
    <p:sldId id="707" r:id="rId21"/>
    <p:sldId id="708" r:id="rId22"/>
    <p:sldId id="709" r:id="rId23"/>
    <p:sldId id="703" r:id="rId24"/>
    <p:sldId id="710" r:id="rId25"/>
    <p:sldId id="704" r:id="rId26"/>
    <p:sldId id="705" r:id="rId27"/>
    <p:sldId id="711" r:id="rId28"/>
    <p:sldId id="712" r:id="rId29"/>
    <p:sldId id="713" r:id="rId30"/>
    <p:sldId id="714" r:id="rId31"/>
    <p:sldId id="715" r:id="rId32"/>
    <p:sldId id="716" r:id="rId33"/>
    <p:sldId id="685" r:id="rId34"/>
    <p:sldId id="686" r:id="rId35"/>
    <p:sldId id="687" r:id="rId36"/>
    <p:sldId id="688" r:id="rId37"/>
    <p:sldId id="600" r:id="rId38"/>
    <p:sldId id="690" r:id="rId39"/>
    <p:sldId id="691" r:id="rId40"/>
    <p:sldId id="692" r:id="rId41"/>
    <p:sldId id="693" r:id="rId42"/>
    <p:sldId id="694" r:id="rId43"/>
    <p:sldId id="695" r:id="rId44"/>
    <p:sldId id="696" r:id="rId45"/>
    <p:sldId id="697" r:id="rId46"/>
    <p:sldId id="698" r:id="rId47"/>
    <p:sldId id="699" r:id="rId48"/>
    <p:sldId id="700" r:id="rId49"/>
    <p:sldId id="701" r:id="rId5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CD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5B174E-FE09-433E-83D8-BE62C3D17F84}" v="1" dt="2025-02-19T05:02:05.78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7028" autoAdjust="0"/>
  </p:normalViewPr>
  <p:slideViewPr>
    <p:cSldViewPr snapToGrid="0">
      <p:cViewPr varScale="1">
        <p:scale>
          <a:sx n="64" d="100"/>
          <a:sy n="64" d="100"/>
        </p:scale>
        <p:origin x="97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viewProps" Target="viewProps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microsoft.com/office/2016/11/relationships/changesInfo" Target="changesInfos/changesInfo1.xml"/><Relationship Id="rId8" Type="http://schemas.openxmlformats.org/officeDocument/2006/relationships/slide" Target="slides/slide6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microsoft.com/office/2015/10/relationships/revisionInfo" Target="revisionInfo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san Jamal" userId="6724a5da2ffd1b8f" providerId="LiveId" clId="{D37C5E1E-F139-4332-ADB1-E8D22FE39AFF}"/>
    <pc:docChg chg="undo custSel addSld delSld modSld sldOrd">
      <pc:chgData name="Hasan Jamal" userId="6724a5da2ffd1b8f" providerId="LiveId" clId="{D37C5E1E-F139-4332-ADB1-E8D22FE39AFF}" dt="2024-09-13T03:14:47.667" v="1015" actId="20577"/>
      <pc:docMkLst>
        <pc:docMk/>
      </pc:docMkLst>
      <pc:sldChg chg="modAnim">
        <pc:chgData name="Hasan Jamal" userId="6724a5da2ffd1b8f" providerId="LiveId" clId="{D37C5E1E-F139-4332-ADB1-E8D22FE39AFF}" dt="2024-09-02T06:58:36.842" v="4"/>
        <pc:sldMkLst>
          <pc:docMk/>
          <pc:sldMk cId="1191552048" sldId="540"/>
        </pc:sldMkLst>
      </pc:sldChg>
      <pc:sldChg chg="modSp modAnim">
        <pc:chgData name="Hasan Jamal" userId="6724a5da2ffd1b8f" providerId="LiveId" clId="{D37C5E1E-F139-4332-ADB1-E8D22FE39AFF}" dt="2024-09-09T03:20:32.316" v="21" actId="20577"/>
        <pc:sldMkLst>
          <pc:docMk/>
          <pc:sldMk cId="3673589650" sldId="543"/>
        </pc:sldMkLst>
      </pc:sldChg>
      <pc:sldChg chg="modSp mod">
        <pc:chgData name="Hasan Jamal" userId="6724a5da2ffd1b8f" providerId="LiveId" clId="{D37C5E1E-F139-4332-ADB1-E8D22FE39AFF}" dt="2024-09-09T03:27:12.454" v="22" actId="20577"/>
        <pc:sldMkLst>
          <pc:docMk/>
          <pc:sldMk cId="2829778637" sldId="544"/>
        </pc:sldMkLst>
      </pc:sldChg>
      <pc:sldChg chg="modSp mod">
        <pc:chgData name="Hasan Jamal" userId="6724a5da2ffd1b8f" providerId="LiveId" clId="{D37C5E1E-F139-4332-ADB1-E8D22FE39AFF}" dt="2024-09-09T05:51:01.895" v="23" actId="20577"/>
        <pc:sldMkLst>
          <pc:docMk/>
          <pc:sldMk cId="3565233425" sldId="553"/>
        </pc:sldMkLst>
      </pc:sldChg>
      <pc:sldChg chg="modAnim">
        <pc:chgData name="Hasan Jamal" userId="6724a5da2ffd1b8f" providerId="LiveId" clId="{D37C5E1E-F139-4332-ADB1-E8D22FE39AFF}" dt="2024-09-09T06:02:45.783" v="30"/>
        <pc:sldMkLst>
          <pc:docMk/>
          <pc:sldMk cId="1339471842" sldId="561"/>
        </pc:sldMkLst>
      </pc:sldChg>
      <pc:sldChg chg="modAnim">
        <pc:chgData name="Hasan Jamal" userId="6724a5da2ffd1b8f" providerId="LiveId" clId="{D37C5E1E-F139-4332-ADB1-E8D22FE39AFF}" dt="2024-09-09T06:03:39.876" v="31"/>
        <pc:sldMkLst>
          <pc:docMk/>
          <pc:sldMk cId="816086383" sldId="562"/>
        </pc:sldMkLst>
      </pc:sldChg>
      <pc:sldChg chg="modSp mod">
        <pc:chgData name="Hasan Jamal" userId="6724a5da2ffd1b8f" providerId="LiveId" clId="{D37C5E1E-F139-4332-ADB1-E8D22FE39AFF}" dt="2024-09-09T06:04:34.531" v="37" actId="20577"/>
        <pc:sldMkLst>
          <pc:docMk/>
          <pc:sldMk cId="2873058451" sldId="564"/>
        </pc:sldMkLst>
      </pc:sldChg>
      <pc:sldChg chg="modSp mod">
        <pc:chgData name="Hasan Jamal" userId="6724a5da2ffd1b8f" providerId="LiveId" clId="{D37C5E1E-F139-4332-ADB1-E8D22FE39AFF}" dt="2024-09-09T06:06:16.305" v="40" actId="20577"/>
        <pc:sldMkLst>
          <pc:docMk/>
          <pc:sldMk cId="306440915" sldId="577"/>
        </pc:sldMkLst>
      </pc:sldChg>
      <pc:sldChg chg="modSp mod">
        <pc:chgData name="Hasan Jamal" userId="6724a5da2ffd1b8f" providerId="LiveId" clId="{D37C5E1E-F139-4332-ADB1-E8D22FE39AFF}" dt="2024-09-09T06:07:43.868" v="41" actId="20577"/>
        <pc:sldMkLst>
          <pc:docMk/>
          <pc:sldMk cId="3206498402" sldId="584"/>
        </pc:sldMkLst>
      </pc:sldChg>
      <pc:sldChg chg="modSp mod">
        <pc:chgData name="Hasan Jamal" userId="6724a5da2ffd1b8f" providerId="LiveId" clId="{D37C5E1E-F139-4332-ADB1-E8D22FE39AFF}" dt="2024-09-13T03:14:47.667" v="1015" actId="20577"/>
        <pc:sldMkLst>
          <pc:docMk/>
          <pc:sldMk cId="2858384051" sldId="587"/>
        </pc:sldMkLst>
      </pc:sldChg>
      <pc:sldChg chg="modAnim">
        <pc:chgData name="Hasan Jamal" userId="6724a5da2ffd1b8f" providerId="LiveId" clId="{D37C5E1E-F139-4332-ADB1-E8D22FE39AFF}" dt="2024-09-02T06:59:50.959" v="11"/>
        <pc:sldMkLst>
          <pc:docMk/>
          <pc:sldMk cId="4292783830" sldId="588"/>
        </pc:sldMkLst>
      </pc:sldChg>
      <pc:sldChg chg="modSp mod">
        <pc:chgData name="Hasan Jamal" userId="6724a5da2ffd1b8f" providerId="LiveId" clId="{D37C5E1E-F139-4332-ADB1-E8D22FE39AFF}" dt="2024-09-10T08:23:28.226" v="1011" actId="1076"/>
        <pc:sldMkLst>
          <pc:docMk/>
          <pc:sldMk cId="274183469" sldId="591"/>
        </pc:sldMkLst>
      </pc:sldChg>
      <pc:sldChg chg="del">
        <pc:chgData name="Hasan Jamal" userId="6724a5da2ffd1b8f" providerId="LiveId" clId="{D37C5E1E-F139-4332-ADB1-E8D22FE39AFF}" dt="2024-09-05T05:47:47.934" v="13" actId="2696"/>
        <pc:sldMkLst>
          <pc:docMk/>
          <pc:sldMk cId="1458936523" sldId="592"/>
        </pc:sldMkLst>
      </pc:sldChg>
      <pc:sldChg chg="del">
        <pc:chgData name="Hasan Jamal" userId="6724a5da2ffd1b8f" providerId="LiveId" clId="{D37C5E1E-F139-4332-ADB1-E8D22FE39AFF}" dt="2024-09-05T05:47:47.934" v="13" actId="2696"/>
        <pc:sldMkLst>
          <pc:docMk/>
          <pc:sldMk cId="3104079279" sldId="593"/>
        </pc:sldMkLst>
      </pc:sldChg>
      <pc:sldChg chg="del">
        <pc:chgData name="Hasan Jamal" userId="6724a5da2ffd1b8f" providerId="LiveId" clId="{D37C5E1E-F139-4332-ADB1-E8D22FE39AFF}" dt="2024-09-05T05:47:47.934" v="13" actId="2696"/>
        <pc:sldMkLst>
          <pc:docMk/>
          <pc:sldMk cId="1404803089" sldId="594"/>
        </pc:sldMkLst>
      </pc:sldChg>
      <pc:sldChg chg="del">
        <pc:chgData name="Hasan Jamal" userId="6724a5da2ffd1b8f" providerId="LiveId" clId="{D37C5E1E-F139-4332-ADB1-E8D22FE39AFF}" dt="2024-09-05T05:47:47.934" v="13" actId="2696"/>
        <pc:sldMkLst>
          <pc:docMk/>
          <pc:sldMk cId="2889225343" sldId="595"/>
        </pc:sldMkLst>
      </pc:sldChg>
      <pc:sldChg chg="del">
        <pc:chgData name="Hasan Jamal" userId="6724a5da2ffd1b8f" providerId="LiveId" clId="{D37C5E1E-F139-4332-ADB1-E8D22FE39AFF}" dt="2024-09-05T05:47:47.934" v="13" actId="2696"/>
        <pc:sldMkLst>
          <pc:docMk/>
          <pc:sldMk cId="2071882620" sldId="596"/>
        </pc:sldMkLst>
      </pc:sldChg>
      <pc:sldChg chg="addSp delSp modSp mod">
        <pc:chgData name="Hasan Jamal" userId="6724a5da2ffd1b8f" providerId="LiveId" clId="{D37C5E1E-F139-4332-ADB1-E8D22FE39AFF}" dt="2024-09-10T08:07:13.576" v="691" actId="20577"/>
        <pc:sldMkLst>
          <pc:docMk/>
          <pc:sldMk cId="1042455817" sldId="598"/>
        </pc:sldMkLst>
      </pc:sldChg>
      <pc:sldChg chg="modSp mod">
        <pc:chgData name="Hasan Jamal" userId="6724a5da2ffd1b8f" providerId="LiveId" clId="{D37C5E1E-F139-4332-ADB1-E8D22FE39AFF}" dt="2024-09-10T08:18:10.102" v="958" actId="1035"/>
        <pc:sldMkLst>
          <pc:docMk/>
          <pc:sldMk cId="2250875496" sldId="599"/>
        </pc:sldMkLst>
      </pc:sldChg>
      <pc:sldChg chg="del">
        <pc:chgData name="Hasan Jamal" userId="6724a5da2ffd1b8f" providerId="LiveId" clId="{D37C5E1E-F139-4332-ADB1-E8D22FE39AFF}" dt="2024-09-02T17:28:25.524" v="12" actId="2696"/>
        <pc:sldMkLst>
          <pc:docMk/>
          <pc:sldMk cId="2245585915" sldId="605"/>
        </pc:sldMkLst>
      </pc:sldChg>
      <pc:sldChg chg="del">
        <pc:chgData name="Hasan Jamal" userId="6724a5da2ffd1b8f" providerId="LiveId" clId="{D37C5E1E-F139-4332-ADB1-E8D22FE39AFF}" dt="2024-09-02T17:28:25.524" v="12" actId="2696"/>
        <pc:sldMkLst>
          <pc:docMk/>
          <pc:sldMk cId="2073823400" sldId="606"/>
        </pc:sldMkLst>
      </pc:sldChg>
      <pc:sldChg chg="del">
        <pc:chgData name="Hasan Jamal" userId="6724a5da2ffd1b8f" providerId="LiveId" clId="{D37C5E1E-F139-4332-ADB1-E8D22FE39AFF}" dt="2024-09-05T05:47:47.934" v="13" actId="2696"/>
        <pc:sldMkLst>
          <pc:docMk/>
          <pc:sldMk cId="2041488050" sldId="607"/>
        </pc:sldMkLst>
      </pc:sldChg>
      <pc:sldChg chg="addSp delSp modSp mod ord">
        <pc:chgData name="Hasan Jamal" userId="6724a5da2ffd1b8f" providerId="LiveId" clId="{D37C5E1E-F139-4332-ADB1-E8D22FE39AFF}" dt="2024-09-10T08:16:13.332" v="952" actId="20577"/>
        <pc:sldMkLst>
          <pc:docMk/>
          <pc:sldMk cId="3200845249" sldId="613"/>
        </pc:sldMkLst>
      </pc:sldChg>
      <pc:sldChg chg="del">
        <pc:chgData name="Hasan Jamal" userId="6724a5da2ffd1b8f" providerId="LiveId" clId="{D37C5E1E-F139-4332-ADB1-E8D22FE39AFF}" dt="2024-09-05T05:47:47.934" v="13" actId="2696"/>
        <pc:sldMkLst>
          <pc:docMk/>
          <pc:sldMk cId="973189905" sldId="614"/>
        </pc:sldMkLst>
      </pc:sldChg>
      <pc:sldChg chg="modSp add mod">
        <pc:chgData name="Hasan Jamal" userId="6724a5da2ffd1b8f" providerId="LiveId" clId="{D37C5E1E-F139-4332-ADB1-E8D22FE39AFF}" dt="2024-09-10T08:19:51.894" v="1008" actId="20577"/>
        <pc:sldMkLst>
          <pc:docMk/>
          <pc:sldMk cId="1490959042" sldId="614"/>
        </pc:sldMkLst>
      </pc:sldChg>
      <pc:sldChg chg="delSp modSp add mod ord">
        <pc:chgData name="Hasan Jamal" userId="6724a5da2ffd1b8f" providerId="LiveId" clId="{D37C5E1E-F139-4332-ADB1-E8D22FE39AFF}" dt="2024-09-10T08:25:26.896" v="1012" actId="20577"/>
        <pc:sldMkLst>
          <pc:docMk/>
          <pc:sldMk cId="1315282947" sldId="615"/>
        </pc:sldMkLst>
      </pc:sldChg>
      <pc:sldChg chg="del">
        <pc:chgData name="Hasan Jamal" userId="6724a5da2ffd1b8f" providerId="LiveId" clId="{D37C5E1E-F139-4332-ADB1-E8D22FE39AFF}" dt="2024-09-05T05:47:47.934" v="13" actId="2696"/>
        <pc:sldMkLst>
          <pc:docMk/>
          <pc:sldMk cId="3872714251" sldId="615"/>
        </pc:sldMkLst>
      </pc:sldChg>
    </pc:docChg>
  </pc:docChgLst>
  <pc:docChgLst>
    <pc:chgData name="Hasan Jamal" userId="6724a5da2ffd1b8f" providerId="LiveId" clId="{1D5B174E-FE09-433E-83D8-BE62C3D17F84}"/>
    <pc:docChg chg="addSld modSld">
      <pc:chgData name="Hasan Jamal" userId="6724a5da2ffd1b8f" providerId="LiveId" clId="{1D5B174E-FE09-433E-83D8-BE62C3D17F84}" dt="2025-02-19T05:02:05.768" v="0"/>
      <pc:docMkLst>
        <pc:docMk/>
      </pc:docMkLst>
      <pc:sldChg chg="add">
        <pc:chgData name="Hasan Jamal" userId="6724a5da2ffd1b8f" providerId="LiveId" clId="{1D5B174E-FE09-433E-83D8-BE62C3D17F84}" dt="2025-02-19T05:02:05.768" v="0"/>
        <pc:sldMkLst>
          <pc:docMk/>
          <pc:sldMk cId="4211869602" sldId="703"/>
        </pc:sldMkLst>
      </pc:sldChg>
      <pc:sldChg chg="add">
        <pc:chgData name="Hasan Jamal" userId="6724a5da2ffd1b8f" providerId="LiveId" clId="{1D5B174E-FE09-433E-83D8-BE62C3D17F84}" dt="2025-02-19T05:02:05.768" v="0"/>
        <pc:sldMkLst>
          <pc:docMk/>
          <pc:sldMk cId="1091887727" sldId="704"/>
        </pc:sldMkLst>
      </pc:sldChg>
      <pc:sldChg chg="add">
        <pc:chgData name="Hasan Jamal" userId="6724a5da2ffd1b8f" providerId="LiveId" clId="{1D5B174E-FE09-433E-83D8-BE62C3D17F84}" dt="2025-02-19T05:02:05.768" v="0"/>
        <pc:sldMkLst>
          <pc:docMk/>
          <pc:sldMk cId="3612541025" sldId="705"/>
        </pc:sldMkLst>
      </pc:sldChg>
      <pc:sldChg chg="add">
        <pc:chgData name="Hasan Jamal" userId="6724a5da2ffd1b8f" providerId="LiveId" clId="{1D5B174E-FE09-433E-83D8-BE62C3D17F84}" dt="2025-02-19T05:02:05.768" v="0"/>
        <pc:sldMkLst>
          <pc:docMk/>
          <pc:sldMk cId="276507698" sldId="706"/>
        </pc:sldMkLst>
      </pc:sldChg>
      <pc:sldChg chg="add">
        <pc:chgData name="Hasan Jamal" userId="6724a5da2ffd1b8f" providerId="LiveId" clId="{1D5B174E-FE09-433E-83D8-BE62C3D17F84}" dt="2025-02-19T05:02:05.768" v="0"/>
        <pc:sldMkLst>
          <pc:docMk/>
          <pc:sldMk cId="3374401365" sldId="707"/>
        </pc:sldMkLst>
      </pc:sldChg>
      <pc:sldChg chg="add">
        <pc:chgData name="Hasan Jamal" userId="6724a5da2ffd1b8f" providerId="LiveId" clId="{1D5B174E-FE09-433E-83D8-BE62C3D17F84}" dt="2025-02-19T05:02:05.768" v="0"/>
        <pc:sldMkLst>
          <pc:docMk/>
          <pc:sldMk cId="2693649825" sldId="708"/>
        </pc:sldMkLst>
      </pc:sldChg>
      <pc:sldChg chg="add">
        <pc:chgData name="Hasan Jamal" userId="6724a5da2ffd1b8f" providerId="LiveId" clId="{1D5B174E-FE09-433E-83D8-BE62C3D17F84}" dt="2025-02-19T05:02:05.768" v="0"/>
        <pc:sldMkLst>
          <pc:docMk/>
          <pc:sldMk cId="441988751" sldId="709"/>
        </pc:sldMkLst>
      </pc:sldChg>
      <pc:sldChg chg="add">
        <pc:chgData name="Hasan Jamal" userId="6724a5da2ffd1b8f" providerId="LiveId" clId="{1D5B174E-FE09-433E-83D8-BE62C3D17F84}" dt="2025-02-19T05:02:05.768" v="0"/>
        <pc:sldMkLst>
          <pc:docMk/>
          <pc:sldMk cId="1486501541" sldId="710"/>
        </pc:sldMkLst>
      </pc:sldChg>
      <pc:sldChg chg="add">
        <pc:chgData name="Hasan Jamal" userId="6724a5da2ffd1b8f" providerId="LiveId" clId="{1D5B174E-FE09-433E-83D8-BE62C3D17F84}" dt="2025-02-19T05:02:05.768" v="0"/>
        <pc:sldMkLst>
          <pc:docMk/>
          <pc:sldMk cId="42114473" sldId="711"/>
        </pc:sldMkLst>
      </pc:sldChg>
      <pc:sldChg chg="add">
        <pc:chgData name="Hasan Jamal" userId="6724a5da2ffd1b8f" providerId="LiveId" clId="{1D5B174E-FE09-433E-83D8-BE62C3D17F84}" dt="2025-02-19T05:02:05.768" v="0"/>
        <pc:sldMkLst>
          <pc:docMk/>
          <pc:sldMk cId="2295380915" sldId="712"/>
        </pc:sldMkLst>
      </pc:sldChg>
      <pc:sldChg chg="add">
        <pc:chgData name="Hasan Jamal" userId="6724a5da2ffd1b8f" providerId="LiveId" clId="{1D5B174E-FE09-433E-83D8-BE62C3D17F84}" dt="2025-02-19T05:02:05.768" v="0"/>
        <pc:sldMkLst>
          <pc:docMk/>
          <pc:sldMk cId="946817819" sldId="713"/>
        </pc:sldMkLst>
      </pc:sldChg>
      <pc:sldChg chg="add">
        <pc:chgData name="Hasan Jamal" userId="6724a5da2ffd1b8f" providerId="LiveId" clId="{1D5B174E-FE09-433E-83D8-BE62C3D17F84}" dt="2025-02-19T05:02:05.768" v="0"/>
        <pc:sldMkLst>
          <pc:docMk/>
          <pc:sldMk cId="3578793085" sldId="714"/>
        </pc:sldMkLst>
      </pc:sldChg>
      <pc:sldChg chg="add">
        <pc:chgData name="Hasan Jamal" userId="6724a5da2ffd1b8f" providerId="LiveId" clId="{1D5B174E-FE09-433E-83D8-BE62C3D17F84}" dt="2025-02-19T05:02:05.768" v="0"/>
        <pc:sldMkLst>
          <pc:docMk/>
          <pc:sldMk cId="1728647669" sldId="715"/>
        </pc:sldMkLst>
      </pc:sldChg>
      <pc:sldChg chg="add">
        <pc:chgData name="Hasan Jamal" userId="6724a5da2ffd1b8f" providerId="LiveId" clId="{1D5B174E-FE09-433E-83D8-BE62C3D17F84}" dt="2025-02-19T05:02:05.768" v="0"/>
        <pc:sldMkLst>
          <pc:docMk/>
          <pc:sldMk cId="3626956494" sldId="716"/>
        </pc:sldMkLst>
      </pc:sldChg>
    </pc:docChg>
  </pc:docChgLst>
  <pc:docChgLst>
    <pc:chgData name="Hasan Jamal" userId="6724a5da2ffd1b8f" providerId="LiveId" clId="{57CB2F9D-511D-47A3-97AB-7DD5A4D88522}"/>
    <pc:docChg chg="modSld">
      <pc:chgData name="Hasan Jamal" userId="6724a5da2ffd1b8f" providerId="LiveId" clId="{57CB2F9D-511D-47A3-97AB-7DD5A4D88522}" dt="2022-09-15T03:29:34.839" v="12" actId="20577"/>
      <pc:docMkLst>
        <pc:docMk/>
      </pc:docMkLst>
      <pc:sldChg chg="modSp mod">
        <pc:chgData name="Hasan Jamal" userId="6724a5da2ffd1b8f" providerId="LiveId" clId="{57CB2F9D-511D-47A3-97AB-7DD5A4D88522}" dt="2022-09-15T03:29:34.839" v="12" actId="20577"/>
        <pc:sldMkLst>
          <pc:docMk/>
          <pc:sldMk cId="4276505344" sldId="513"/>
        </pc:sldMkLst>
      </pc:sldChg>
      <pc:sldChg chg="modSp mod">
        <pc:chgData name="Hasan Jamal" userId="6724a5da2ffd1b8f" providerId="LiveId" clId="{57CB2F9D-511D-47A3-97AB-7DD5A4D88522}" dt="2022-02-25T04:18:49.826" v="6" actId="113"/>
        <pc:sldMkLst>
          <pc:docMk/>
          <pc:sldMk cId="4101798262" sldId="516"/>
        </pc:sldMkLst>
      </pc:sldChg>
      <pc:sldChg chg="modNotesTx">
        <pc:chgData name="Hasan Jamal" userId="6724a5da2ffd1b8f" providerId="LiveId" clId="{57CB2F9D-511D-47A3-97AB-7DD5A4D88522}" dt="2022-02-23T10:00:06.570" v="3" actId="20577"/>
        <pc:sldMkLst>
          <pc:docMk/>
          <pc:sldMk cId="1619668140" sldId="523"/>
        </pc:sldMkLst>
      </pc:sldChg>
    </pc:docChg>
  </pc:docChgLst>
  <pc:docChgLst>
    <pc:chgData name="Hasan Jamal" userId="6724a5da2ffd1b8f" providerId="LiveId" clId="{96E91301-8390-499D-83BE-49190A5B0140}"/>
    <pc:docChg chg="modSld">
      <pc:chgData name="Hasan Jamal" userId="6724a5da2ffd1b8f" providerId="LiveId" clId="{96E91301-8390-499D-83BE-49190A5B0140}" dt="2020-06-20T13:15:35.684" v="1"/>
      <pc:docMkLst>
        <pc:docMk/>
      </pc:docMkLst>
      <pc:sldChg chg="modTransition">
        <pc:chgData name="Hasan Jamal" userId="6724a5da2ffd1b8f" providerId="LiveId" clId="{96E91301-8390-499D-83BE-49190A5B0140}" dt="2020-06-20T13:15:35.684" v="1"/>
        <pc:sldMkLst>
          <pc:docMk/>
          <pc:sldMk cId="1423990881" sldId="267"/>
        </pc:sldMkLst>
      </pc:sldChg>
      <pc:sldChg chg="modTransition">
        <pc:chgData name="Hasan Jamal" userId="6724a5da2ffd1b8f" providerId="LiveId" clId="{96E91301-8390-499D-83BE-49190A5B0140}" dt="2020-06-20T13:15:35.684" v="1"/>
        <pc:sldMkLst>
          <pc:docMk/>
          <pc:sldMk cId="578419612" sldId="270"/>
        </pc:sldMkLst>
      </pc:sldChg>
      <pc:sldChg chg="modTransition">
        <pc:chgData name="Hasan Jamal" userId="6724a5da2ffd1b8f" providerId="LiveId" clId="{96E91301-8390-499D-83BE-49190A5B0140}" dt="2020-06-20T13:15:35.684" v="1"/>
        <pc:sldMkLst>
          <pc:docMk/>
          <pc:sldMk cId="1495268929" sldId="274"/>
        </pc:sldMkLst>
      </pc:sldChg>
      <pc:sldChg chg="modTransition">
        <pc:chgData name="Hasan Jamal" userId="6724a5da2ffd1b8f" providerId="LiveId" clId="{96E91301-8390-499D-83BE-49190A5B0140}" dt="2020-06-20T13:15:35.684" v="1"/>
        <pc:sldMkLst>
          <pc:docMk/>
          <pc:sldMk cId="2742951823" sldId="346"/>
        </pc:sldMkLst>
      </pc:sldChg>
      <pc:sldChg chg="modTransition">
        <pc:chgData name="Hasan Jamal" userId="6724a5da2ffd1b8f" providerId="LiveId" clId="{96E91301-8390-499D-83BE-49190A5B0140}" dt="2020-06-20T13:15:35.684" v="1"/>
        <pc:sldMkLst>
          <pc:docMk/>
          <pc:sldMk cId="3076239252" sldId="457"/>
        </pc:sldMkLst>
      </pc:sldChg>
      <pc:sldChg chg="modTransition">
        <pc:chgData name="Hasan Jamal" userId="6724a5da2ffd1b8f" providerId="LiveId" clId="{96E91301-8390-499D-83BE-49190A5B0140}" dt="2020-06-20T13:15:35.684" v="1"/>
        <pc:sldMkLst>
          <pc:docMk/>
          <pc:sldMk cId="3748594262" sldId="458"/>
        </pc:sldMkLst>
      </pc:sldChg>
      <pc:sldChg chg="modTransition">
        <pc:chgData name="Hasan Jamal" userId="6724a5da2ffd1b8f" providerId="LiveId" clId="{96E91301-8390-499D-83BE-49190A5B0140}" dt="2020-06-20T13:15:35.684" v="1"/>
        <pc:sldMkLst>
          <pc:docMk/>
          <pc:sldMk cId="616506392" sldId="459"/>
        </pc:sldMkLst>
      </pc:sldChg>
      <pc:sldChg chg="modTransition">
        <pc:chgData name="Hasan Jamal" userId="6724a5da2ffd1b8f" providerId="LiveId" clId="{96E91301-8390-499D-83BE-49190A5B0140}" dt="2020-06-20T13:15:35.684" v="1"/>
        <pc:sldMkLst>
          <pc:docMk/>
          <pc:sldMk cId="2854303941" sldId="461"/>
        </pc:sldMkLst>
      </pc:sldChg>
      <pc:sldChg chg="modTransition">
        <pc:chgData name="Hasan Jamal" userId="6724a5da2ffd1b8f" providerId="LiveId" clId="{96E91301-8390-499D-83BE-49190A5B0140}" dt="2020-06-20T13:15:35.684" v="1"/>
        <pc:sldMkLst>
          <pc:docMk/>
          <pc:sldMk cId="3095468980" sldId="466"/>
        </pc:sldMkLst>
      </pc:sldChg>
      <pc:sldChg chg="modTransition">
        <pc:chgData name="Hasan Jamal" userId="6724a5da2ffd1b8f" providerId="LiveId" clId="{96E91301-8390-499D-83BE-49190A5B0140}" dt="2020-06-20T13:15:35.684" v="1"/>
        <pc:sldMkLst>
          <pc:docMk/>
          <pc:sldMk cId="2501283379" sldId="467"/>
        </pc:sldMkLst>
      </pc:sldChg>
      <pc:sldChg chg="modTransition">
        <pc:chgData name="Hasan Jamal" userId="6724a5da2ffd1b8f" providerId="LiveId" clId="{96E91301-8390-499D-83BE-49190A5B0140}" dt="2020-06-20T13:15:35.684" v="1"/>
        <pc:sldMkLst>
          <pc:docMk/>
          <pc:sldMk cId="2088484385" sldId="468"/>
        </pc:sldMkLst>
      </pc:sldChg>
      <pc:sldChg chg="modTransition">
        <pc:chgData name="Hasan Jamal" userId="6724a5da2ffd1b8f" providerId="LiveId" clId="{96E91301-8390-499D-83BE-49190A5B0140}" dt="2020-06-20T13:15:35.684" v="1"/>
        <pc:sldMkLst>
          <pc:docMk/>
          <pc:sldMk cId="2487066325" sldId="469"/>
        </pc:sldMkLst>
      </pc:sldChg>
      <pc:sldChg chg="modTransition">
        <pc:chgData name="Hasan Jamal" userId="6724a5da2ffd1b8f" providerId="LiveId" clId="{96E91301-8390-499D-83BE-49190A5B0140}" dt="2020-06-20T13:15:35.684" v="1"/>
        <pc:sldMkLst>
          <pc:docMk/>
          <pc:sldMk cId="1595765672" sldId="470"/>
        </pc:sldMkLst>
      </pc:sldChg>
      <pc:sldChg chg="modTransition">
        <pc:chgData name="Hasan Jamal" userId="6724a5da2ffd1b8f" providerId="LiveId" clId="{96E91301-8390-499D-83BE-49190A5B0140}" dt="2020-06-20T13:15:35.684" v="1"/>
        <pc:sldMkLst>
          <pc:docMk/>
          <pc:sldMk cId="2723844874" sldId="471"/>
        </pc:sldMkLst>
      </pc:sldChg>
      <pc:sldChg chg="modTransition">
        <pc:chgData name="Hasan Jamal" userId="6724a5da2ffd1b8f" providerId="LiveId" clId="{96E91301-8390-499D-83BE-49190A5B0140}" dt="2020-06-20T13:15:35.684" v="1"/>
        <pc:sldMkLst>
          <pc:docMk/>
          <pc:sldMk cId="391945698" sldId="475"/>
        </pc:sldMkLst>
      </pc:sldChg>
      <pc:sldChg chg="modTransition">
        <pc:chgData name="Hasan Jamal" userId="6724a5da2ffd1b8f" providerId="LiveId" clId="{96E91301-8390-499D-83BE-49190A5B0140}" dt="2020-06-20T13:15:35.684" v="1"/>
        <pc:sldMkLst>
          <pc:docMk/>
          <pc:sldMk cId="481662566" sldId="476"/>
        </pc:sldMkLst>
      </pc:sldChg>
      <pc:sldChg chg="modTransition">
        <pc:chgData name="Hasan Jamal" userId="6724a5da2ffd1b8f" providerId="LiveId" clId="{96E91301-8390-499D-83BE-49190A5B0140}" dt="2020-06-20T13:15:35.684" v="1"/>
        <pc:sldMkLst>
          <pc:docMk/>
          <pc:sldMk cId="376348559" sldId="47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734546-FD7D-47BB-AA1E-00BBFD21EEC5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2D3D20-B80A-47F2-90D8-E85AAC9E3F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0351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2D3D20-B80A-47F2-90D8-E85AAC9E3F3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3044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2D3D20-B80A-47F2-90D8-E85AAC9E3F3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2293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651A56-2077-687E-4FCD-F438578A4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D9D33D-FA7B-DC5D-1EED-7181104B8E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1E5759-AEFE-2060-16D7-F501D2BD9D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D41DB9-1748-E473-7E93-361950ED2B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2D3D20-B80A-47F2-90D8-E85AAC9E3F3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7926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19620A-0221-D9F2-0945-DAC7951A5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4373E7-9767-9FA1-1D99-9EFB979DEB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4A1B7B-7898-5D47-7FF3-C852C7DCA1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EC71AF-3040-D9F2-46B5-82A71F9F5B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2D3D20-B80A-47F2-90D8-E85AAC9E3F3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0325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2D3D20-B80A-47F2-90D8-E85AAC9E3F3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450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387A56-673E-9412-AA43-C8EE3758C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B09604-7AE2-2955-28E2-A37578B8A6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E6684C-6266-9668-47B9-CE86C7751E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2E54FA-1C20-C204-B8F0-826F8DCC4A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2D3D20-B80A-47F2-90D8-E85AAC9E3F3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9381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2D3D20-B80A-47F2-90D8-E85AAC9E3F3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9940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B99779-A4CA-6F8D-F986-8136185BF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DD66BA-963C-32BB-771D-CC30B71555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75367A-F9B7-5B66-2731-5E9E5A8D39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5C48D3-54B1-3CBD-840D-C20131072E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2D3D20-B80A-47F2-90D8-E85AAC9E3F3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2554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C372AE-4ED2-9F2C-E318-B286FA71B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2DEBD8-DFEA-9444-DC87-1DE7E47CE5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9BA9F2-3CD4-5E8E-2244-2A9D1B812C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BEE186-CAB3-9955-C08A-30011AFBD2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2D3D20-B80A-47F2-90D8-E85AAC9E3F34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2847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224ADF-B518-E938-31A0-01F207227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492414-0F26-5FA5-1C2F-6A6B447D70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9C56BF-E05A-788F-C514-6AEA910E41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6B7DE0-4477-694E-914D-B9D577DEB3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2D3D20-B80A-47F2-90D8-E85AAC9E3F34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7910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633EF4-DFF9-8DC8-ABE4-36710DA48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816C1D-ED06-0B01-A8E4-B264698338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946BF1-3E0C-5398-27DB-8E228F77BE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BB304D-EE6D-9DA1-4912-4CE051B2F8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2D3D20-B80A-47F2-90D8-E85AAC9E3F34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0273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8286B-5380-388B-2F5C-C743B86A0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5CBC87-A7C4-EB0F-D7AA-6B0260C535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2DC320-43C9-85C3-F702-178E067C97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E136BC-9CEB-D233-B728-5DBD9D3317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2D3D20-B80A-47F2-90D8-E85AAC9E3F34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0255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CB0D49-8575-9319-FD5B-306A89113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F19ACE-2A74-19D4-08AD-401C1F13E4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94E697-50A3-4103-B0E1-4EF57806F4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9039FA-10B2-0C65-B32C-C0F1F6FBCF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2D3D20-B80A-47F2-90D8-E85AAC9E3F34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1853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2D3D20-B80A-47F2-90D8-E85AAC9E3F34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90264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E728A3-C36A-EA67-1D16-97E017F7E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9A9EBD-3ADF-CB76-A781-6CCA720B77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FA5CE1-EF20-A259-F5DD-063EE48B92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9CB21B-34DA-D0F6-C896-D3D86DBB26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2D3D20-B80A-47F2-90D8-E85AAC9E3F34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01093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2E100B-5A12-1A19-0835-2F115DA5E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ACF1BB-4A4B-BFE0-02AA-AADDF373C8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B89F2A-4A5A-6051-E522-138B3E48B5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834441-49B2-4310-B781-1DEC9297EE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2D3D20-B80A-47F2-90D8-E85AAC9E3F34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73212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C2FC7E-6DD1-14AB-B8E2-14AAE8A0E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EB3173-D37F-58B0-328F-B109930AE2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39557C-D723-FD4E-4789-C0658AC0B8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3A23E0-3EF5-7B83-3761-B11E8F5542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2D3D20-B80A-47F2-90D8-E85AAC9E3F34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98131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44C162-CF5F-E00F-A71C-F76BA9960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C9EE36-AB0A-953A-2FBD-B7A44C44C1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0B43F6-DC07-989A-40DE-6F0471ED85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83FB22-C4DA-00F1-E09E-CCB7CB3BCE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2D3D20-B80A-47F2-90D8-E85AAC9E3F34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06794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235CC7-698A-9F00-1419-9F122110F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E4C9A4-1693-9518-3E32-0816BD8827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4B6E51-FE2C-0148-5CCA-CA01E61581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BB2FD6-ED1A-DD3B-3C1D-62CA1C5BEC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2D3D20-B80A-47F2-90D8-E85AAC9E3F34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09331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4D3025-1DFA-2167-6455-917E4D80D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05BA29-A962-AE69-7539-DE46FCC4D2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B81F85-5B19-B3BD-47AE-69F55EA900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6F7715-DFB9-261B-51D1-35281454A2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2D3D20-B80A-47F2-90D8-E85AAC9E3F34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44034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39938E-65FD-A34D-3007-883AA3F37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99C271-931D-1EA4-2CE9-1FB3B4275D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A49029-0DD6-5B89-CA4D-20FA8144A1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6ADEEC-9DA5-FFA1-20D1-B451D5F9FB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2D3D20-B80A-47F2-90D8-E85AAC9E3F34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63085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DA5A87-AB52-D724-46D0-AE91EFF72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874FE1-E70F-9307-8236-A1DBE85231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AE80E7-2C9B-56EA-296D-26A6194362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AB88B9-DA16-98FD-1F1C-C0DC89ACC6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2D3D20-B80A-47F2-90D8-E85AAC9E3F34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79983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CA979D-84FD-35F3-F167-4F7B30D13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008C27-6453-E12B-0167-E25F9C56B5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8288D3-A4B8-2D29-C839-C066D59CCF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049B28-337E-3D9F-4EA3-8E617C4097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2D3D20-B80A-47F2-90D8-E85AAC9E3F34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90567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B09B6C-61A5-6D8F-C8D6-9ADC757A9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239770-91D8-C4AC-2680-6CCBAB6763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3EA395-3C6F-E1FF-F8DB-2CC73096BB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727ECA-0003-DC81-EE87-17D9C38E96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2D3D20-B80A-47F2-90D8-E85AAC9E3F34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7613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AFD47-8486-4F84-F7EB-7BF654A14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C23C84-0630-7E0E-C8E2-3F67355EEC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BC9E38-4526-2A2B-0FEB-95466689FA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EAE056-8134-3429-FD7D-FE7E65E2A3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2D3D20-B80A-47F2-90D8-E85AAC9E3F34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6906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F773FB-6528-2C5D-A258-0EEFE8B57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8BE1F8-12E7-8159-B74D-B0BEB76E51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2CD14E-B66F-41E4-0780-512D2CCFF8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54FF96-DBD8-5C8B-5C42-95BF98AC83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2D3D20-B80A-47F2-90D8-E85AAC9E3F34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62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70CC6-EB59-4447-80BA-9D36C629BD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4DD14A-F511-49B0-A91B-978DAEFBBA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739A08-9A7A-49DA-A39B-B0EF1A480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F8B72-9C19-4DBD-8F3B-D049130D4969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AD8D3A-B881-4BC9-A537-ECB468F7F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7F4CF0-1776-4F65-BCA7-0F303DF3D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366AE-5A89-45B7-9EA8-7C0EFF442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570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B02DE-303C-4D87-8E77-879FBE119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B6C54D-48BB-467E-8103-DFE5F6DCED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DAA13-6920-4BB8-A1F1-3A1324279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F8B72-9C19-4DBD-8F3B-D049130D4969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63360B-5BAB-41D8-A02D-7C1BAB8C6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92317C-2498-4AED-8B51-357F03DCA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366AE-5A89-45B7-9EA8-7C0EFF442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1349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33ADF-891D-4A12-83B5-454FF556A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492D1F-5588-4349-97C5-EB30CD88E5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C24B3D-6B89-4416-A6EB-152D8D49D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F8B72-9C19-4DBD-8F3B-D049130D4969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1B9C78-BA9A-479E-A3FF-695287295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48EE37-7497-4B13-94F5-9E33310DD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366AE-5A89-45B7-9EA8-7C0EFF442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0596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D8959-A7A6-4D39-AA8B-57C72F6B1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0E0084-43D6-45E5-B2FB-83FB50E504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1317EC-AA9D-4624-8395-48D0AE97ED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28D681-CD5B-4D0F-A2B0-BF8B8AD77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F8B72-9C19-4DBD-8F3B-D049130D4969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C1E102-0CFC-4C99-8794-DDB15502C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D0784B-2F5A-4BD4-9EBE-85512D864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366AE-5A89-45B7-9EA8-7C0EFF442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031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A3181-2412-4949-91A3-23CBDDDBC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7C8FC4-D6CA-4D00-B86A-7336B6E1CA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AD6D8B-7024-4E37-B53E-016331394C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A1DB30-80A3-4DC3-9806-9202A76140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997761-D7C3-42D3-803A-AAC22024F8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D11AC6-D32A-4EAD-B726-5AE67DFFC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F8B72-9C19-4DBD-8F3B-D049130D4969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8607F5-A7FB-40DA-A637-507CECE2A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28571F-5213-44AD-9B39-829F87621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366AE-5A89-45B7-9EA8-7C0EFF442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112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16889-5B79-497C-9736-E9B7A36D0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35B599-D225-4693-9E55-C140F796D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F8B72-9C19-4DBD-8F3B-D049130D4969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5B06CB-70EA-4710-B4B5-59BF2C624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B1CA16-87D7-4A9A-93EE-A252B69E1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366AE-5A89-45B7-9EA8-7C0EFF442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811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9141D3-43C6-40C7-A4DB-9BFB3972D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F8B72-9C19-4DBD-8F3B-D049130D4969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B73F51-C531-4416-9A10-50D5280BF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6032B0-273E-4169-9640-156E7D4EA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366AE-5A89-45B7-9EA8-7C0EFF442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267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A39EF-1141-43EF-9A25-60CEC3698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BA0430-0CCC-4FD2-905C-27F04B934A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F68AE7-6F69-4589-A8AF-F2B8927E89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31577C-944C-412C-8F52-FFFC45A36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F8B72-9C19-4DBD-8F3B-D049130D4969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F4FD3B-027E-4C74-964C-C3F64FBB4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DFEB46-4620-4847-8F68-DB3BB84CB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366AE-5A89-45B7-9EA8-7C0EFF442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275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9019B-EBB5-4FBC-99F6-CD60929B5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6A3050-1640-44D7-B8B2-7F5BC0F2C4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7D1C82-DEC0-4624-8D52-79B7F25CF7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CA048C-F343-4D60-96F0-B2859B510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F8B72-9C19-4DBD-8F3B-D049130D4969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788895-9B51-4541-AAB2-BF16ED7D0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53C80-6CDB-486A-B8CF-AAD127321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366AE-5A89-45B7-9EA8-7C0EFF442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7524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7D555-ABD7-4161-B06F-FCD3143D9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095C10-FF95-4025-B207-9881A16465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8C42DD-D420-4BAE-A427-F815A4F37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F8B72-9C19-4DBD-8F3B-D049130D4969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51F7B7-D2EB-4517-9D60-26A66FF0E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D20148-FE35-475E-9068-7641710E2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366AE-5A89-45B7-9EA8-7C0EFF442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8335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554761-8A33-482D-B4B2-18B2A8F89E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B816EB-AB8E-47C2-9A3E-33DE4D4F8D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740179-C5D2-4148-BAA2-30F72348B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F8B72-9C19-4DBD-8F3B-D049130D4969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A0BD9F-3BB0-4D0E-9EBA-8CC5FDF82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969872-32D9-46E9-AB85-0ABCDEE88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366AE-5A89-45B7-9EA8-7C0EFF442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8650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905001"/>
            <a:ext cx="100584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4572000"/>
            <a:ext cx="861568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Design and Anaysis of Algorihms, Spring 2008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 &amp; Analysis of Algorithms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8831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Design and Anaysis of Algorihms, Spring 2008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 &amp; Analysis of Algorithms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8225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5" y="5486400"/>
            <a:ext cx="10212916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5" y="3852863"/>
            <a:ext cx="8180916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Design and Anaysis of Algorihms, Spring 2008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 &amp; Analysis of Algorithms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8603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536192"/>
            <a:ext cx="48768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92800" y="1536192"/>
            <a:ext cx="48768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Design and Anaysis of Algorihms, Spring 2008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 &amp; Analysis of Algorithms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969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48768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48768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92800" y="1535113"/>
            <a:ext cx="48768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92800" y="2174875"/>
            <a:ext cx="48768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Design and Anaysis of Algorihms, Spring 2008 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 &amp; Analysis of Algorithms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1203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Design and Anaysis of Algorihms, Spring 2008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 &amp; Analysis of Algorithms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73308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Design and Anaysis of Algorihms, Spring 2008 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 &amp; Analysis of Algorithms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67825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6401" y="5495544"/>
            <a:ext cx="103632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6400" y="6096000"/>
            <a:ext cx="103632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Design and Anaysis of Algorihms, Spring 2008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 &amp; Analysis of Algorithms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406400" y="381000"/>
            <a:ext cx="10363200" cy="49428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4544094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2336" y="5495278"/>
            <a:ext cx="103632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112776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2336" y="6096000"/>
            <a:ext cx="103632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Design and Anaysis of Algorihms, Spring 2008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485D9CA-6DAA-4C3C-A3E2-EDEA918D5F8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Design &amp; Analysis of Algorithms</a:t>
            </a:r>
          </a:p>
        </p:txBody>
      </p:sp>
    </p:spTree>
    <p:extLst>
      <p:ext uri="{BB962C8B-B14F-4D97-AF65-F5344CB8AC3E}">
        <p14:creationId xmlns:p14="http://schemas.microsoft.com/office/powerpoint/2010/main" val="80208626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Design and Anaysis of Algorihms, Spring 2008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 &amp; Analysis of Algorithms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23719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336800" cy="58515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Design and Anaysis of Algorihms, Spring 2008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 &amp; Analysis of Algorithms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59366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3938589"/>
            <a:ext cx="53848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Design and Anaysis of Algorihms, Spring 2008 </a:t>
            </a:r>
            <a:endParaRPr lang="en-GB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Design &amp; Analysis of Algorithms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CAA143B-99B6-4B27-B043-E574855ABF90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075925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Design and Anaysis of Algorihms, Spring 2008 </a:t>
            </a: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Design &amp; Analysis of Algorithms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5718971-3FDC-4323-BE22-69C0E5D57951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587144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53848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09600" y="3938589"/>
            <a:ext cx="53848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7600" y="3938589"/>
            <a:ext cx="53848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Design and Anaysis of Algorihms, Spring 2008 </a:t>
            </a: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Design &amp; Analysis of Algorithms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1BCAC09-0EE0-4829-9090-1F0BC639B9B6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39551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EB5029-5875-48B9-9C22-38D785FCE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A0B3BA-C511-4FC7-AA99-072F757CF5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700382-92E4-4D10-875A-89C34EF30D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DF8B72-9C19-4DBD-8F3B-D049130D4969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CD864E-90F0-4014-8C2D-CE853EFCBA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062C12-0EAF-4F9E-BB1B-EED572C618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9366AE-5A89-45B7-9EA8-7C0EFF442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24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16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16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1277600" y="0"/>
            <a:ext cx="9144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/>
          <p:cNvSpPr/>
          <p:nvPr/>
        </p:nvSpPr>
        <p:spPr>
          <a:xfrm>
            <a:off x="11277600" y="5486400"/>
            <a:ext cx="9144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3485D9CA-6DAA-4C3C-A3E2-EDEA918D5F8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10510428" y="3987800"/>
            <a:ext cx="2367281" cy="4876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r>
              <a:rPr lang="en-US"/>
              <a:t>Design &amp; Analysis of Algorithms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474869" y="1584960"/>
            <a:ext cx="2438399" cy="4876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r>
              <a:rPr lang="en-US"/>
              <a:t>Design and Anaysis of Algorihms, Spring 2008 </a:t>
            </a:r>
          </a:p>
        </p:txBody>
      </p:sp>
    </p:spTree>
    <p:extLst>
      <p:ext uri="{BB962C8B-B14F-4D97-AF65-F5344CB8AC3E}">
        <p14:creationId xmlns:p14="http://schemas.microsoft.com/office/powerpoint/2010/main" val="23899172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0.xml"/><Relationship Id="rId4" Type="http://schemas.openxmlformats.org/officeDocument/2006/relationships/image" Target="../media/image8.gif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2.xml"/><Relationship Id="rId5" Type="http://schemas.openxmlformats.org/officeDocument/2006/relationships/image" Target="../media/image11.gif"/><Relationship Id="rId4" Type="http://schemas.openxmlformats.org/officeDocument/2006/relationships/image" Target="../media/image10.gi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3.xml"/><Relationship Id="rId4" Type="http://schemas.openxmlformats.org/officeDocument/2006/relationships/image" Target="../media/image13.gi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4.xml"/><Relationship Id="rId4" Type="http://schemas.openxmlformats.org/officeDocument/2006/relationships/image" Target="../media/image15.gif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9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0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8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9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40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4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4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4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44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45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46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4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1</a:t>
            </a:fld>
            <a:endParaRPr lang="en-US">
              <a:latin typeface="Calibri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1524000" y="1654176"/>
            <a:ext cx="8458200" cy="1470025"/>
          </a:xfrm>
        </p:spPr>
        <p:txBody>
          <a:bodyPr/>
          <a:lstStyle/>
          <a:p>
            <a:pPr algn="ctr"/>
            <a:r>
              <a:rPr lang="en-US" sz="3200" b="1" dirty="0"/>
              <a:t>CSC 334 – Parallel and Distributed Computing</a:t>
            </a:r>
          </a:p>
        </p:txBody>
      </p:sp>
      <p:sp>
        <p:nvSpPr>
          <p:cNvPr id="8" name="Subtitle 2"/>
          <p:cNvSpPr txBox="1">
            <a:spLocks/>
          </p:cNvSpPr>
          <p:nvPr/>
        </p:nvSpPr>
        <p:spPr>
          <a:xfrm>
            <a:off x="1524000" y="3505200"/>
            <a:ext cx="8458200" cy="1752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None/>
              <a:defRPr sz="14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None/>
              <a:defRPr sz="14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rgbClr val="A9A57C"/>
              </a:buClr>
            </a:pPr>
            <a:r>
              <a:rPr lang="en-US" sz="2800" b="1" spc="-100" dirty="0">
                <a:solidFill>
                  <a:srgbClr val="675E47"/>
                </a:solidFill>
                <a:latin typeface="Cambria"/>
              </a:rPr>
              <a:t>Instructor: </a:t>
            </a:r>
            <a:r>
              <a:rPr lang="en-US" sz="2800" b="1" spc="-100" dirty="0" smtClean="0">
                <a:solidFill>
                  <a:srgbClr val="675E47"/>
                </a:solidFill>
                <a:latin typeface="Cambria"/>
              </a:rPr>
              <a:t>Ms. Muntha Amjad</a:t>
            </a:r>
            <a:endParaRPr lang="en-US" sz="2800" b="1" spc="-100" dirty="0">
              <a:solidFill>
                <a:srgbClr val="675E47"/>
              </a:solidFill>
              <a:latin typeface="Cambria"/>
            </a:endParaRPr>
          </a:p>
          <a:p>
            <a:pPr algn="ctr">
              <a:buClr>
                <a:srgbClr val="A9A57C"/>
              </a:buClr>
            </a:pPr>
            <a:r>
              <a:rPr lang="en-US" sz="2800" b="1" spc="-100" dirty="0">
                <a:solidFill>
                  <a:srgbClr val="675E47"/>
                </a:solidFill>
                <a:latin typeface="Cambria"/>
              </a:rPr>
              <a:t>Lecture# 01: Introduction</a:t>
            </a:r>
          </a:p>
        </p:txBody>
      </p:sp>
    </p:spTree>
    <p:extLst>
      <p:ext uri="{BB962C8B-B14F-4D97-AF65-F5344CB8AC3E}">
        <p14:creationId xmlns:p14="http://schemas.microsoft.com/office/powerpoint/2010/main" val="1423990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6D4654-466C-860B-A567-98BD88210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32D267C4-C361-E2BF-B352-85BBA655B0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Motivating Parallelism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65EDA8F-ED6A-7210-34D2-482A5C44E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2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42A9296F-DDC1-745F-0CD3-55BE6268A740}"/>
              </a:ext>
            </a:extLst>
          </p:cNvPr>
          <p:cNvSpPr txBox="1">
            <a:spLocks noChangeArrowheads="1"/>
          </p:cNvSpPr>
          <p:nvPr/>
        </p:nvSpPr>
        <p:spPr>
          <a:xfrm>
            <a:off x="632150" y="1453241"/>
            <a:ext cx="10613366" cy="5252357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Traditionally, software has been written for </a:t>
            </a:r>
            <a:r>
              <a:rPr lang="en-US" sz="24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serial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computation:</a:t>
            </a:r>
          </a:p>
          <a:p>
            <a:pPr lvl="1" algn="just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To be run on a single computer having a single Central Processing Unit (CPU); </a:t>
            </a:r>
          </a:p>
          <a:p>
            <a:pPr lvl="1" algn="just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A problem is broken into a discrete series of instructions that are executed sequentially. </a:t>
            </a:r>
          </a:p>
          <a:p>
            <a:pPr lvl="1" algn="just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Only one instruction may execute at any moment in time.</a:t>
            </a:r>
          </a:p>
          <a:p>
            <a:pPr lvl="1" algn="just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Performance is achieved by executing instructions concurrently through multitasking</a:t>
            </a:r>
          </a:p>
          <a:p>
            <a:pPr algn="just"/>
            <a:endParaRPr lang="en-US" sz="1200" b="1" i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24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Uniprocessors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are </a:t>
            </a:r>
            <a:r>
              <a:rPr lang="en-US" sz="2400" b="1" i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fast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but:</a:t>
            </a:r>
          </a:p>
          <a:p>
            <a:pPr lvl="1" algn="just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Some problems require </a:t>
            </a:r>
            <a:r>
              <a:rPr lang="en-US" sz="2200" b="1" i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too much computation</a:t>
            </a:r>
          </a:p>
          <a:p>
            <a:pPr lvl="1" algn="just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Some problems use </a:t>
            </a:r>
            <a:r>
              <a:rPr lang="en-US" sz="2200" b="1" i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too much data</a:t>
            </a:r>
          </a:p>
          <a:p>
            <a:pPr lvl="1" algn="just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Some problems have </a:t>
            </a:r>
            <a:r>
              <a:rPr lang="en-US" sz="2200" b="1" i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too many parameters to explore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“For example:</a:t>
            </a:r>
          </a:p>
          <a:p>
            <a:pPr lvl="1" algn="just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Weather simulations</a:t>
            </a:r>
          </a:p>
          <a:p>
            <a:pPr lvl="1" algn="just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Gaming</a:t>
            </a:r>
          </a:p>
          <a:p>
            <a:pPr lvl="1" algn="just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Web servers</a:t>
            </a:r>
          </a:p>
          <a:p>
            <a:pPr lvl="1" algn="just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Code breaking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9A4A1C5-E88E-82A0-242C-8ABE31684E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8529" y="3866148"/>
            <a:ext cx="2984244" cy="266073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337731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443FE-C988-05C5-C768-952BE54F0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D5560B9F-C1B5-11D3-D06E-8466AADF05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Motivating Parallelism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7168A2D-832E-BA7C-F2F8-D3EF532E1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3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8B50561C-3587-187F-0FB7-B36B50F34E5F}"/>
              </a:ext>
            </a:extLst>
          </p:cNvPr>
          <p:cNvSpPr txBox="1">
            <a:spLocks noChangeArrowheads="1"/>
          </p:cNvSpPr>
          <p:nvPr/>
        </p:nvSpPr>
        <p:spPr>
          <a:xfrm>
            <a:off x="632150" y="1453241"/>
            <a:ext cx="10340649" cy="5252357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 the simplest sense, </a:t>
            </a:r>
            <a:r>
              <a:rPr lang="en-US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parallel computing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is the simultaneous use of multiple compute resources to solve a computational problem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 be run using multiple CPUs 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problem is broken into discrete parts that can be solved in parallel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Each part is further broken down to a series of instructions </a:t>
            </a:r>
            <a:endParaRPr lang="en-US" b="1" i="1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Instructions from each part execute simultaneously on different CPUs</a:t>
            </a:r>
          </a:p>
        </p:txBody>
      </p:sp>
      <p:pic>
        <p:nvPicPr>
          <p:cNvPr id="27652" name="Picture 4" descr="Parallel computing">
            <a:extLst>
              <a:ext uri="{FF2B5EF4-FFF2-40B4-BE49-F238E27FC236}">
                <a16:creationId xmlns:a16="http://schemas.microsoft.com/office/drawing/2014/main" id="{16B31148-56A9-8B81-0E68-1C58C917A5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798" y="4052052"/>
            <a:ext cx="4971299" cy="2705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294690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Motivating Parallelism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4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A773B303-CEA4-39FE-8190-A77ECCC638B8}"/>
              </a:ext>
            </a:extLst>
          </p:cNvPr>
          <p:cNvSpPr txBox="1">
            <a:spLocks noChangeArrowheads="1"/>
          </p:cNvSpPr>
          <p:nvPr/>
        </p:nvSpPr>
        <p:spPr>
          <a:xfrm>
            <a:off x="632150" y="1453241"/>
            <a:ext cx="10463741" cy="5292333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role of parallelism in accelerating computing speeds has been recognized for several decades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Its role in providing multiplicity of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datapaths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and increased access to storage elements has been significant in commercial applications.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scalable performance and lower cost of parallel platforms is reflected in the wide variety of applications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73589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54FF8D-8124-6771-E9B7-7C5D36EA1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62A4E6B9-528D-F4C3-FBE9-CBFD6659A4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Motivating Parallelism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15ABABB-EDFA-8616-7A38-8F67F4685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5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3EDE252-CE2B-C5A7-42A8-23343E7546BB}"/>
              </a:ext>
            </a:extLst>
          </p:cNvPr>
          <p:cNvSpPr txBox="1">
            <a:spLocks noChangeArrowheads="1"/>
          </p:cNvSpPr>
          <p:nvPr/>
        </p:nvSpPr>
        <p:spPr>
          <a:xfrm>
            <a:off x="632150" y="1453241"/>
            <a:ext cx="10463741" cy="5292333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Developing parallel hardware and software has traditionally been time and effort intensive.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If one is to view this in the context of rapidly improving uniprocessor speeds, one is tempted to question the need for parallel computing.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Latest trends in hardware design indicate that uniprocessors may not be able to sustain the rate of realizable performance increments in the future.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This is the result of several fundamental physical and computational limitations.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emergence of standardized parallel programming environments, libraries, and hardware have significantly reduced time to develop (parallel) solutions.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81830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The Computational Power Argument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6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A773B303-CEA4-39FE-8190-A77ECCC638B8}"/>
              </a:ext>
            </a:extLst>
          </p:cNvPr>
          <p:cNvSpPr txBox="1">
            <a:spLocks noChangeArrowheads="1"/>
          </p:cNvSpPr>
          <p:nvPr/>
        </p:nvSpPr>
        <p:spPr>
          <a:xfrm>
            <a:off x="632150" y="1453241"/>
            <a:ext cx="10308565" cy="5264081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Moore’s Law states (1965):</a:t>
            </a:r>
          </a:p>
          <a:p>
            <a:pPr algn="just"/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r>
              <a:rPr lang="en-US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Number of transistors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incorporated on a microchip </a:t>
            </a:r>
            <a:r>
              <a:rPr lang="en-US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doubles approximately every two years,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while the</a:t>
            </a:r>
            <a:r>
              <a:rPr lang="en-US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cost of computers is halved.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D72B06-6D12-E956-B3BC-0FD927C1E0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5633" y="2907104"/>
            <a:ext cx="5575385" cy="390277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292783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4F2C6-F33E-3C9E-15FE-425A18B5F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61423D10-1C18-ECBD-51F2-787776769F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The Computational Power Argument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2B2380-2713-8598-E69D-831AD9B87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7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CB37540C-A4D7-FD7D-92C4-52678CA224BE}"/>
              </a:ext>
            </a:extLst>
          </p:cNvPr>
          <p:cNvSpPr txBox="1">
            <a:spLocks noChangeArrowheads="1"/>
          </p:cNvSpPr>
          <p:nvPr/>
        </p:nvSpPr>
        <p:spPr>
          <a:xfrm>
            <a:off x="632150" y="1453241"/>
            <a:ext cx="10404818" cy="5264081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If one is to buy into Moore’s law, the question still remains – how does one translate transistors into useful OPS (operations per second)?</a:t>
            </a:r>
          </a:p>
          <a:p>
            <a:pPr algn="just"/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logical recourse is to rely on parallelism, both implicit and explicit.</a:t>
            </a:r>
          </a:p>
          <a:p>
            <a:pPr algn="just"/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Most serial (or seemingly serial) processors rely extensively on implicit parallelism.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focus of this class, for the most part, is on explicit parallelism.</a:t>
            </a:r>
            <a:endParaRPr lang="en-US" b="1" i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b="1" i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19623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D2893-3AC9-A801-34B8-8F4921DBC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7E183AE2-65AF-B113-A851-9319178C56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The Computational Power Argument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1F955C-96A5-FCC2-FEFB-65BFA22A5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8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6BFEB6C4-2FE0-A449-292D-6EBF0CA2FFFA}"/>
              </a:ext>
            </a:extLst>
          </p:cNvPr>
          <p:cNvSpPr txBox="1">
            <a:spLocks noChangeArrowheads="1"/>
          </p:cNvSpPr>
          <p:nvPr/>
        </p:nvSpPr>
        <p:spPr>
          <a:xfrm>
            <a:off x="632150" y="1453241"/>
            <a:ext cx="10475561" cy="5252357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Why doubling the transistors does not double the speed?</a:t>
            </a:r>
            <a:endParaRPr lang="en-US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Increase in number of transistor per processor is due to multi-core CPUs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It means, to follow Moore’s law, companies had to introduce ultra large-scale integrations and multi-core processing era</a:t>
            </a:r>
          </a:p>
          <a:p>
            <a:pPr lvl="1"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Will Moore’s law hold forever?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Adding multiple cores on a single chip causes heat issues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Furthermore, increasing the number of cores, may not be able to increase speeds due to inter-process interactions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Moreover, transistors would eventually reach the limit of miniaturization at atomic level</a:t>
            </a:r>
            <a:endParaRPr lang="en-US" b="1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21283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0D3BF3-B62E-0DCA-1C7E-9FB8DD63F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3F9C34C4-613D-2539-CDFA-F2F53B245E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The Computational Power Argument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F12BB41-E44D-B54C-3C17-6C03F4EE5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9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613AD3DD-FE39-7FA9-2AAD-6825ED1CDCEA}"/>
              </a:ext>
            </a:extLst>
          </p:cNvPr>
          <p:cNvSpPr txBox="1">
            <a:spLocks noChangeArrowheads="1"/>
          </p:cNvSpPr>
          <p:nvPr/>
        </p:nvSpPr>
        <p:spPr>
          <a:xfrm>
            <a:off x="632150" y="1453241"/>
            <a:ext cx="4794289" cy="5252357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So, we must look for efficient parallel software solutions to fulfill our future computational needs</a:t>
            </a:r>
            <a:endParaRPr lang="en-US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As stated earlier, number of cores on a single chip also have some restrictions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Solution(s)?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Need to find more scalable distributed and hybrid solutions</a:t>
            </a:r>
            <a:endParaRPr lang="en-US" b="1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F4E9EC-C9C3-8C64-66B2-E511E4E22F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0556" y="1573162"/>
            <a:ext cx="5520181" cy="377832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68428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The memory/Disk Speed Argument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10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A773B303-CEA4-39FE-8190-A77ECCC638B8}"/>
              </a:ext>
            </a:extLst>
          </p:cNvPr>
          <p:cNvSpPr txBox="1">
            <a:spLocks noChangeArrowheads="1"/>
          </p:cNvSpPr>
          <p:nvPr/>
        </p:nvSpPr>
        <p:spPr>
          <a:xfrm>
            <a:off x="632152" y="1453241"/>
            <a:ext cx="10252726" cy="5017897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18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While clock rates of high-end processors have increased at roughly 40% per year over the past decade, DRAM access times have only improved at the rate of roughly 10% per year over this interval</a:t>
            </a:r>
          </a:p>
          <a:p>
            <a:pPr algn="just">
              <a:spcBef>
                <a:spcPts val="18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This mismatch in speeds causes significant performance bottlenecks</a:t>
            </a:r>
          </a:p>
          <a:p>
            <a:pPr algn="just">
              <a:spcBef>
                <a:spcPts val="18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Parallel platforms provide increased bandwidth to the memory systems</a:t>
            </a:r>
          </a:p>
          <a:p>
            <a:pPr algn="just">
              <a:spcBef>
                <a:spcPts val="18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Parallel platforms also provide higher aggregate caches</a:t>
            </a:r>
          </a:p>
          <a:p>
            <a:pPr algn="just">
              <a:spcBef>
                <a:spcPts val="18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Some of the fastest growing applications of parallel computing utilize not the raw computational speeds, rather their ability to pump data to memory and disk faster </a:t>
            </a:r>
            <a:endParaRPr lang="en-US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39249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19FED-345A-99D6-4D13-EFD7F06AD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FBA6B28F-BC54-1D05-34CB-B23856B4C7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The Data Communication Argument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E0B7195-B317-AA5A-1F87-794448BA0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11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7157A651-8C1D-853C-73E7-3279DC999141}"/>
              </a:ext>
            </a:extLst>
          </p:cNvPr>
          <p:cNvSpPr txBox="1">
            <a:spLocks noChangeArrowheads="1"/>
          </p:cNvSpPr>
          <p:nvPr/>
        </p:nvSpPr>
        <p:spPr>
          <a:xfrm>
            <a:off x="632152" y="1453241"/>
            <a:ext cx="10252726" cy="5017897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18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As the network evolves, the vision of the Internet as one large computing platform has emerged</a:t>
            </a:r>
          </a:p>
          <a:p>
            <a:pPr algn="just">
              <a:spcBef>
                <a:spcPts val="18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 many applications (typically databases and data mining) the volume of data is such that they cannot be moved</a:t>
            </a:r>
          </a:p>
          <a:p>
            <a:pPr algn="just">
              <a:spcBef>
                <a:spcPts val="18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Any analyses on this data must be performed over the network using parallel techniques</a:t>
            </a:r>
            <a:endParaRPr lang="en-US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81482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1B05D8-50DE-C384-3EE7-5EAF160AE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0E431B48-6A1C-F181-4311-F7DD9559D0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Computing vs. Systems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7A87A15-3DF8-6F40-81AE-19B0642E2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12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F4CA4490-E36E-5D1C-3D50-7C85DED36196}"/>
              </a:ext>
            </a:extLst>
          </p:cNvPr>
          <p:cNvSpPr txBox="1">
            <a:spLocks noChangeArrowheads="1"/>
          </p:cNvSpPr>
          <p:nvPr/>
        </p:nvSpPr>
        <p:spPr>
          <a:xfrm>
            <a:off x="632152" y="1453241"/>
            <a:ext cx="10252726" cy="5017897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 algn="just">
              <a:spcBef>
                <a:spcPts val="1200"/>
              </a:spcBef>
              <a:buNone/>
            </a:pPr>
            <a:r>
              <a:rPr lang="en-US" b="1" i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Distributed Systems</a:t>
            </a:r>
          </a:p>
          <a:p>
            <a:pPr algn="just">
              <a:spcBef>
                <a:spcPts val="6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collection of autonomous computers, connected through a network and distribution middleware</a:t>
            </a:r>
          </a:p>
          <a:p>
            <a:pPr lvl="1" algn="just">
              <a:spcBef>
                <a:spcPts val="6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This enables computers to coordinate their activities and to share the resources of the system</a:t>
            </a:r>
          </a:p>
          <a:p>
            <a:pPr lvl="1" algn="just">
              <a:spcBef>
                <a:spcPts val="6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system is usually perceived as a single, integrated computing facility</a:t>
            </a:r>
          </a:p>
          <a:p>
            <a:pPr lvl="1" algn="just">
              <a:spcBef>
                <a:spcPts val="6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Mostly connected with the hardware-based accelerations</a:t>
            </a:r>
          </a:p>
          <a:p>
            <a:pPr marL="114300" indent="0" algn="just">
              <a:spcBef>
                <a:spcPts val="600"/>
              </a:spcBef>
              <a:buNone/>
            </a:pPr>
            <a:endParaRPr lang="en-US" sz="1000" b="1" i="1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300" indent="0" algn="just">
              <a:spcBef>
                <a:spcPts val="600"/>
              </a:spcBef>
              <a:buNone/>
            </a:pPr>
            <a:r>
              <a:rPr lang="en-US" b="1" i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Distributed Computing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6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specific use of distributed systems, to split a large and complex processing into subparts and execute them in parallel, to increase the productivity</a:t>
            </a:r>
          </a:p>
          <a:p>
            <a:pPr lvl="1" algn="just">
              <a:spcBef>
                <a:spcPts val="6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Computing mainly concerned with software-based accelerations (i.e., designing and implementing algorithms)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35652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Parallel and Distributed Computing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13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A773B303-CEA4-39FE-8190-A77ECCC638B8}"/>
              </a:ext>
            </a:extLst>
          </p:cNvPr>
          <p:cNvSpPr txBox="1">
            <a:spLocks noChangeArrowheads="1"/>
          </p:cNvSpPr>
          <p:nvPr/>
        </p:nvSpPr>
        <p:spPr>
          <a:xfrm>
            <a:off x="632152" y="1453241"/>
            <a:ext cx="10340648" cy="5191399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 algn="just">
              <a:spcBef>
                <a:spcPts val="1200"/>
              </a:spcBef>
              <a:buNone/>
            </a:pPr>
            <a:r>
              <a:rPr lang="en-US" b="1" i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Parallel (shared-memory) Computing</a:t>
            </a:r>
          </a:p>
          <a:p>
            <a:pPr algn="just">
              <a:spcBef>
                <a:spcPts val="6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term is usually used for developing concurrent solutions for following two types of the systems:</a:t>
            </a:r>
          </a:p>
          <a:p>
            <a:pPr lvl="1" algn="just">
              <a:spcBef>
                <a:spcPts val="6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Multi-core Architecture</a:t>
            </a:r>
          </a:p>
          <a:p>
            <a:pPr lvl="1" algn="just">
              <a:spcBef>
                <a:spcPts val="6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Many-core Architectures (i.e., GPUs)</a:t>
            </a:r>
            <a:endParaRPr lang="en-US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1200"/>
              </a:spcBef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300" indent="0" algn="just">
              <a:spcBef>
                <a:spcPts val="0"/>
              </a:spcBef>
              <a:buNone/>
            </a:pPr>
            <a:r>
              <a:rPr lang="en-US" b="1" i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Distributed Computing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This type of computing is mainly concerned with developing algorithms for the distributed cluster systems</a:t>
            </a:r>
          </a:p>
          <a:p>
            <a:pPr algn="just">
              <a:spcBef>
                <a:spcPts val="12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Here, distributed means a geographical distance between the computers without any shared-memory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42455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B3E4EB-8650-0B0F-ACAE-DD3722717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DF180885-F1F1-B230-76A5-5D29307F68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Scope of Parallel Computing Applications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D1FE7B4-9ABC-A0E5-8CE2-7AE787761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14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D274E51B-4188-D4CE-38AE-4A5D7FA354E7}"/>
              </a:ext>
            </a:extLst>
          </p:cNvPr>
          <p:cNvSpPr txBox="1">
            <a:spLocks noChangeArrowheads="1"/>
          </p:cNvSpPr>
          <p:nvPr/>
        </p:nvSpPr>
        <p:spPr>
          <a:xfrm>
            <a:off x="632152" y="1453241"/>
            <a:ext cx="10252726" cy="5017897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18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Parallelism finds applications in very diverse application domains for different motivating reasons</a:t>
            </a:r>
          </a:p>
          <a:p>
            <a:pPr algn="just">
              <a:spcBef>
                <a:spcPts val="18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These range from improved application performance to cost considerations</a:t>
            </a:r>
            <a:endParaRPr lang="en-US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56155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Scientific Applications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15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A773B303-CEA4-39FE-8190-A77ECCC638B8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1"/>
            <a:ext cx="10447329" cy="5404759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6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Functional and structural characterization of genes and proteins</a:t>
            </a:r>
          </a:p>
          <a:p>
            <a:pPr algn="just">
              <a:spcBef>
                <a:spcPts val="600"/>
              </a:spcBef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6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Applications in astrophysics have explored the evolution of galaxies, thermonuclear processes, and the analysis of extremely large datasets from telescope</a:t>
            </a:r>
          </a:p>
          <a:p>
            <a:pPr algn="just">
              <a:spcBef>
                <a:spcPts val="600"/>
              </a:spcBef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6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Advances in computational physics and chemistry have explored new materials, understanding of chemical pathways, and more efficient processes</a:t>
            </a:r>
          </a:p>
          <a:p>
            <a:pPr algn="just">
              <a:spcBef>
                <a:spcPts val="600"/>
              </a:spcBef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6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Bioinformatics and astrophysics also present some of the most challenging problems with respect to analyzing extremely large datasets</a:t>
            </a:r>
          </a:p>
          <a:p>
            <a:pPr algn="just">
              <a:spcBef>
                <a:spcPts val="600"/>
              </a:spcBef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6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Weather modeling, mineral prospecting, flood prediction etc., are other important applications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00845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C6AA6-4C2A-3443-4B9F-F6E689828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12B35F00-342F-08CA-DCE5-3B9283A9B1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Commercial Applications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322AFA-C615-0566-1659-29C02DD5C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16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1FAE001B-A5F6-BE0A-3DE9-72EC823A39AB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1"/>
            <a:ext cx="10447329" cy="5404759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12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Some of the largest parallel computers power Wall Street</a:t>
            </a:r>
          </a:p>
          <a:p>
            <a:pPr algn="just">
              <a:spcBef>
                <a:spcPts val="1200"/>
              </a:spcBef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12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Data mining analysis for optimizing business and marketing decisions</a:t>
            </a:r>
          </a:p>
          <a:p>
            <a:pPr algn="just">
              <a:spcBef>
                <a:spcPts val="1200"/>
              </a:spcBef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12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Large scale servers (mail and web servers) are often implemented using parallel platforms</a:t>
            </a:r>
          </a:p>
          <a:p>
            <a:pPr algn="just">
              <a:spcBef>
                <a:spcPts val="1200"/>
              </a:spcBef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12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Applications such as information retrieval and search are typically powered by large clusters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74246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2874DF-B935-1DBB-0049-315CC7F19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6D361DFC-8BB7-2A08-DEAB-412D6FF0BA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Applications in Computer Systems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F08C871-B418-65D0-74AD-BC0BD6231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17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73723DF6-7088-904E-345A-DEB65418F1B3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1"/>
            <a:ext cx="10447329" cy="5404759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12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Network intrusion detection: A large amount of data needs to be analyzed and processed</a:t>
            </a:r>
          </a:p>
          <a:p>
            <a:pPr algn="just">
              <a:spcBef>
                <a:spcPts val="1200"/>
              </a:spcBef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12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Cryptography (the art of writing or solving codes) employs parallel infrastructures and algorithms to solve complex codes</a:t>
            </a:r>
          </a:p>
          <a:p>
            <a:pPr algn="just">
              <a:spcBef>
                <a:spcPts val="1200"/>
              </a:spcBef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12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Graphic processing</a:t>
            </a:r>
          </a:p>
          <a:p>
            <a:pPr algn="just">
              <a:spcBef>
                <a:spcPts val="1200"/>
              </a:spcBef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12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modern automobile consists of tens of processors communicating to perform complex tasks for optimizing handling and performance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42351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CCC078-4E09-F119-9DA6-7AF2F9B2D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8633F5E2-6C5E-3470-4761-3258808817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Von Neumann Architecture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3CADAC4-FED0-9F7C-C3A2-1CC0E094D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18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1B44CB89-50CC-1D8E-388B-61ADDADA3B4F}"/>
              </a:ext>
            </a:extLst>
          </p:cNvPr>
          <p:cNvSpPr txBox="1">
            <a:spLocks noChangeArrowheads="1"/>
          </p:cNvSpPr>
          <p:nvPr/>
        </p:nvSpPr>
        <p:spPr>
          <a:xfrm>
            <a:off x="632150" y="1453241"/>
            <a:ext cx="10581282" cy="5404759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Named after the Hungarian mathematician John von Neumann who first authored the general requirements for an electronic computer in his 1945 papers.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Also known as "stored-program computer" – both program instructions and data are kept in electronic memory. Differs from earlier computers which were programmed through "hard wiring".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Since then, virtually all computers have followed this basic design.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Comprised of four main components: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Memory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Control Unit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Arithmetic Logic Unit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Input/Output</a:t>
            </a:r>
          </a:p>
          <a:p>
            <a:pPr lvl="1"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300" indent="0" algn="just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Diagram of a basic computer design, based on vn Neumann's requirements">
            <a:extLst>
              <a:ext uri="{FF2B5EF4-FFF2-40B4-BE49-F238E27FC236}">
                <a16:creationId xmlns:a16="http://schemas.microsoft.com/office/drawing/2014/main" id="{0953D314-2AEE-1DB9-4ED9-8F5DE5AF8F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3558" y="4267200"/>
            <a:ext cx="2553795" cy="2414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6507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6D4654-466C-860B-A567-98BD88210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32D267C4-C361-E2BF-B352-85BBA655B0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Von Neumann Architecture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65EDA8F-ED6A-7210-34D2-482A5C44E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19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42A9296F-DDC1-745F-0CD3-55BE6268A740}"/>
              </a:ext>
            </a:extLst>
          </p:cNvPr>
          <p:cNvSpPr txBox="1">
            <a:spLocks noChangeArrowheads="1"/>
          </p:cNvSpPr>
          <p:nvPr/>
        </p:nvSpPr>
        <p:spPr>
          <a:xfrm>
            <a:off x="632149" y="1453241"/>
            <a:ext cx="10468987" cy="5404759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Basic Design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RD/WR, random access memory is used to store both program instructions and data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Program instructions are coded data which tell the computer to do something 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Data is simply information to be used by the program 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Control unit fetches instructions/data from memory, decodes the instructions and then </a:t>
            </a:r>
            <a:r>
              <a:rPr lang="en-US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sequentially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coordinates operations to accomplish the programmed task.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Arithmetic Unit performs basic arithmetic operations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Input/Output is the interface to the human operator</a:t>
            </a:r>
          </a:p>
          <a:p>
            <a:pPr lvl="1"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Parallel computers still follow this basic design, just multiplied in units. The basic, fundamental architecture remains the same.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74401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443FE-C988-05C5-C768-952BE54F0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D5560B9F-C1B5-11D3-D06E-8466AADF05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Flynn's Classical Taxonomy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7168A2D-832E-BA7C-F2F8-D3EF532E1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20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8B50561C-3587-187F-0FB7-B36B50F34E5F}"/>
              </a:ext>
            </a:extLst>
          </p:cNvPr>
          <p:cNvSpPr txBox="1">
            <a:spLocks noChangeArrowheads="1"/>
          </p:cNvSpPr>
          <p:nvPr/>
        </p:nvSpPr>
        <p:spPr>
          <a:xfrm>
            <a:off x="632150" y="1453241"/>
            <a:ext cx="10340649" cy="5252357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There are different ways to classify parallel computers. One of the more widely used classifications, in use since 1966, is called Flynn's Taxonomy.</a:t>
            </a:r>
            <a:endParaRPr lang="en-US" b="1" i="1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Flynn's taxonomy distinguishes multi-processor computer architectures according to how they can be classified along the two independent dimensions of </a:t>
            </a:r>
            <a:r>
              <a:rPr lang="en-US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Instruction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 Each of these dimensions can have only one of two possible states: </a:t>
            </a:r>
            <a:r>
              <a:rPr lang="en-US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Single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or </a:t>
            </a:r>
            <a:r>
              <a:rPr lang="en-US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Multiple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Flynn matrix below defines the 4 possible classifications:</a:t>
            </a:r>
          </a:p>
          <a:p>
            <a:pPr marL="114300" indent="0" algn="just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73564D0-9EF5-EF04-7148-C1B1183EF1C6}"/>
              </a:ext>
            </a:extLst>
          </p:cNvPr>
          <p:cNvGraphicFramePr>
            <a:graphicFrameLocks noGrp="1"/>
          </p:cNvGraphicFramePr>
          <p:nvPr/>
        </p:nvGraphicFramePr>
        <p:xfrm>
          <a:off x="1686465" y="4778318"/>
          <a:ext cx="8128000" cy="1280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73401683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3602313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SISD</a:t>
                      </a:r>
                    </a:p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Single Instruction, Single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SIMD</a:t>
                      </a:r>
                    </a:p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Single Instruction, Multiple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36621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MISD</a:t>
                      </a:r>
                    </a:p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Multiple Instruction, Single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MIMD</a:t>
                      </a:r>
                    </a:p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Multiple Instruction, Multiple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2727944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693649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Single Instruction, Single Data (SISD)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21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A773B303-CEA4-39FE-8190-A77ECCC638B8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1"/>
            <a:ext cx="7276607" cy="5292333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serial (non-parallel) computer 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Single instruction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only one instruction stream is being acted on by the CPU during any one clock cycle 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Single data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only one data stream is being used as input during any one clock cycle 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Deterministic execution 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This is the oldest and until recently, the most prevalent form of computer 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Examples: most PCs, single CPU workstations and mainframes </a:t>
            </a:r>
          </a:p>
        </p:txBody>
      </p:sp>
      <p:pic>
        <p:nvPicPr>
          <p:cNvPr id="7172" name="Picture 4" descr="SISD">
            <a:extLst>
              <a:ext uri="{FF2B5EF4-FFF2-40B4-BE49-F238E27FC236}">
                <a16:creationId xmlns:a16="http://schemas.microsoft.com/office/drawing/2014/main" id="{8D11D1ED-7B64-9DB1-1BFC-0A752981BD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3677" y="1597862"/>
            <a:ext cx="1942633" cy="23129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0" name="Picture 2" descr="SISD diagram">
            <a:extLst>
              <a:ext uri="{FF2B5EF4-FFF2-40B4-BE49-F238E27FC236}">
                <a16:creationId xmlns:a16="http://schemas.microsoft.com/office/drawing/2014/main" id="{B566EFD0-F984-93CE-FB2A-D4C68091DD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3405" y="4243785"/>
            <a:ext cx="2477856" cy="2477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41988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D6DC1D-25EA-1119-E05E-12DF32908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C486F265-33E2-E811-5683-C5CF1553F4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Single Instruction, Multiple Data (SIMD)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20B8FCA-2020-92B0-5F64-91C5B7155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22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23407A01-7BE3-6241-60CA-B0D129BE685D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1"/>
            <a:ext cx="10356691" cy="5292333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 type of parallel computer </a:t>
            </a:r>
          </a:p>
          <a:p>
            <a:pPr algn="just"/>
            <a:endParaRPr lang="en-US" sz="12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Single instruction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 All processing units execute the same instruction at any given clock cycle </a:t>
            </a:r>
          </a:p>
          <a:p>
            <a:pPr algn="just"/>
            <a:endParaRPr lang="en-US" sz="12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Multiple data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 Each processing unit can operate on a different data element 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This type of machine typically has an instruction dispatcher, a very high-bandwidth internal network, and a very large array of very small-capacity instruction units. 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Best suited for specialized problems characterized by a high degree of regularity, such as graphics/image processing. 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Synchronous (lockstep) and deterministic execution 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Two varieties: Processor Arrays and Vector Pipelines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11869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C9F61C-F125-0B97-2A77-A5BCAC2C6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CC4C567B-6E48-36DD-C9F7-FE3DAEF049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Single Instruction, Multiple Data (SIMD)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EB0A540-982F-534C-769F-C191715BD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23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791E1F0A-68CB-DE57-88AD-A5BE8FB8AE7A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1"/>
            <a:ext cx="10356691" cy="5292333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Examples:</a:t>
            </a:r>
          </a:p>
          <a:p>
            <a:pPr lvl="1" algn="just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Processor Arrays: Thinking Machine CM-2,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MasPar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MP-1 &amp; MP-2 </a:t>
            </a:r>
          </a:p>
          <a:p>
            <a:pPr lvl="1" algn="just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Vector Pipelines: IBM 9000, Cray C90, Fujitsu VP, NEC SX-2, Hitachi S820</a:t>
            </a:r>
          </a:p>
          <a:p>
            <a:pPr lvl="1" algn="just"/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Most modern computers, particularly those with graphics processor units (GPUs) employ SIMD instructions and execution units.</a:t>
            </a:r>
          </a:p>
        </p:txBody>
      </p:sp>
      <p:pic>
        <p:nvPicPr>
          <p:cNvPr id="8196" name="Picture 4" descr="SIMD">
            <a:extLst>
              <a:ext uri="{FF2B5EF4-FFF2-40B4-BE49-F238E27FC236}">
                <a16:creationId xmlns:a16="http://schemas.microsoft.com/office/drawing/2014/main" id="{2DCB2492-64C8-F038-E8B5-CB4FCA51DA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9318" y="3188369"/>
            <a:ext cx="3536986" cy="19757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2" descr="SIMD diagram">
            <a:extLst>
              <a:ext uri="{FF2B5EF4-FFF2-40B4-BE49-F238E27FC236}">
                <a16:creationId xmlns:a16="http://schemas.microsoft.com/office/drawing/2014/main" id="{D9BF0536-53C6-6816-AA26-8763EB047A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8357" y="3034538"/>
            <a:ext cx="2241884" cy="2241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SIMD diagram">
            <a:extLst>
              <a:ext uri="{FF2B5EF4-FFF2-40B4-BE49-F238E27FC236}">
                <a16:creationId xmlns:a16="http://schemas.microsoft.com/office/drawing/2014/main" id="{448CA157-56E4-35C8-9885-2E608CBD1B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5620" y="3254581"/>
            <a:ext cx="3513221" cy="1291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486501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E5905-ACB8-90B3-712B-E671D4083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7AA1EA68-7A33-53EA-4C03-3087D3846C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Multiple Instruction, Single Data (MISD)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7B87DA6-BCC4-A0FF-2E05-91729B4B0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24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BFCAC76A-3B35-3F34-7E44-EEB8F1DDCDD3}"/>
              </a:ext>
            </a:extLst>
          </p:cNvPr>
          <p:cNvSpPr txBox="1">
            <a:spLocks noChangeArrowheads="1"/>
          </p:cNvSpPr>
          <p:nvPr/>
        </p:nvSpPr>
        <p:spPr>
          <a:xfrm>
            <a:off x="632150" y="1453241"/>
            <a:ext cx="10629407" cy="5292333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type of a parallel computer</a:t>
            </a:r>
          </a:p>
          <a:p>
            <a:pPr algn="just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Multiple Instruction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Each processing unit operates on the data independently. via independent instruction streams.</a:t>
            </a:r>
          </a:p>
          <a:p>
            <a:pPr algn="just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Single Data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A single data stream is fed into multiple processing units. 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Few (if any) actual examples of this class of parallel computer have ever existed. 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Some conceivable uses might be: 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multiple frequency filters operating on a single signal stream 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multiple cryptography algorithms attempting to crack a single coded message.</a:t>
            </a:r>
          </a:p>
        </p:txBody>
      </p:sp>
      <p:pic>
        <p:nvPicPr>
          <p:cNvPr id="9220" name="Picture 4" descr="MISD">
            <a:extLst>
              <a:ext uri="{FF2B5EF4-FFF2-40B4-BE49-F238E27FC236}">
                <a16:creationId xmlns:a16="http://schemas.microsoft.com/office/drawing/2014/main" id="{CED2F78D-DD36-2677-76D2-CF337CC9F5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2575" y="4744126"/>
            <a:ext cx="4171950" cy="197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8" name="Picture 2" descr="MISD diagram">
            <a:extLst>
              <a:ext uri="{FF2B5EF4-FFF2-40B4-BE49-F238E27FC236}">
                <a16:creationId xmlns:a16="http://schemas.microsoft.com/office/drawing/2014/main" id="{CAE0D9C1-CFA7-CA90-7D62-78E7A22237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5074" y="4639741"/>
            <a:ext cx="2256492" cy="2256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091887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F0B51F-5DF2-95CA-E7FC-72CDB6ED4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7B0B9964-17ED-7091-C5BC-6A5F8F8A5C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Multiple Instruction, Multiple Data (MIMD)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9F3647D-B7E6-BA36-3453-6217BDF7F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25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550C8FE7-9DF5-7E07-F4E9-B14FF0999794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1"/>
            <a:ext cx="6538670" cy="5404759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Currently, the most common type of parallel computer. Most modern computers fall into this category. </a:t>
            </a:r>
          </a:p>
          <a:p>
            <a:pPr algn="just"/>
            <a:endParaRPr lang="en-US" sz="13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Multiple Instruction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every processor may be executing a different instruction stream </a:t>
            </a:r>
          </a:p>
          <a:p>
            <a:pPr algn="just"/>
            <a:endParaRPr lang="en-US" sz="12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Multiple Data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every processor may be working with a different data stream 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Execution can be synchronous or asynchronous, deterministic or non-deterministic 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Examples: most current supercomputers, networked parallel computer "grids" and multi-processor SMP computers, multi-core PCs.</a:t>
            </a:r>
          </a:p>
        </p:txBody>
      </p:sp>
      <p:pic>
        <p:nvPicPr>
          <p:cNvPr id="10244" name="Picture 4" descr="MIMD">
            <a:extLst>
              <a:ext uri="{FF2B5EF4-FFF2-40B4-BE49-F238E27FC236}">
                <a16:creationId xmlns:a16="http://schemas.microsoft.com/office/drawing/2014/main" id="{8CD5E75A-2D75-D5FB-EF68-2BDFCC17D3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512" y="4362919"/>
            <a:ext cx="3734352" cy="2086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2" name="Picture 2" descr="MIMD diagram">
            <a:extLst>
              <a:ext uri="{FF2B5EF4-FFF2-40B4-BE49-F238E27FC236}">
                <a16:creationId xmlns:a16="http://schemas.microsoft.com/office/drawing/2014/main" id="{48F5A724-7A2A-01B5-0590-03B4899F67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0073" y="1386570"/>
            <a:ext cx="2672083" cy="2672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12541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54FF8D-8124-6771-E9B7-7C5D36EA1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62A4E6B9-528D-F4C3-FBE9-CBFD6659A4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General Parallel Computing Terminology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15ABABB-EDFA-8616-7A38-8F67F4685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26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3EDE252-CE2B-C5A7-42A8-23343E7546BB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1"/>
            <a:ext cx="10420860" cy="5404759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CPU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Modern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CPUs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has one or more cores, where each core runs its own instructions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. CPUs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can be part of multiple sockets, where each socket has its own memory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. If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CPU has multiple sockets, the system can share memory across them.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Node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A node is like a separate computer that has multiple CPUs, memory, and network connections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. Many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nodes together form a supercomputer by connecting through a network.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Task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A logically discrete section of computational work. A task is typically a program or program-like set of instructions that is executed by a processor. A parallel program consists of multiple tasks running on multiple processors.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Pipelining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Breaking a task into steps performed by different processor units, with inputs streaming through, much like an assembly line; a type of parallel computing.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114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EA1E7F-765A-5FE3-492B-01355480D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FF41FA13-D884-06C8-437C-14B18F8711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General Parallel Computing Terminology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288F1A5-DA87-DCA1-EE3F-078FFEADA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27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DDB23003-E88E-507C-4956-F830F9C65442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1"/>
            <a:ext cx="10340650" cy="5292333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Serial Execution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Execution of a program sequentially, one statement at a time. In the simplest sense, this is what happens on a one processor machine. However, virtually all parallel tasks will have sections of a parallel program that must be executed serially.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Parallel Execution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Execution of a program by more than one task, with each task being able to execute the same or different statement at the same moment in time.</a:t>
            </a:r>
          </a:p>
          <a:p>
            <a:pPr marL="114300" indent="0" algn="just">
              <a:buNone/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Shared Memory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From a strictly hardware point of view, describes a computer architecture where all processors have direct (usually bus based) access to common physical memory. In a programming sense, it describes a model where parallel tasks all have the same "picture" of memory and can directly address and access the same logical memory locations regardless of where the physical memory actually exists.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95380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E1740-8D40-E8B4-436F-23B17A11B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EE3976D4-EB9F-6FBB-2AFC-715AFFBA21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General Parallel Computing Terminology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4391C5F-5FDD-4BFA-D9EE-C7679CA0C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28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57EEF7BC-99CE-6319-C110-829CE376CAAB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1"/>
            <a:ext cx="10501070" cy="5404759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Distributed Memory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In hardware, refers to network-based memory access for physical memory that is not common. As a programming model, tasks can only logically "see" local machine memory and must use communications to access memory on other machines where other tasks are executing.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Communications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Parallel tasks typically need to exchange data. There are several ways this can be accomplished, such as through a shared memory bus or over a network, however the actual event of data exchange is commonly referred to as communications regardless of the method employed.</a:t>
            </a:r>
          </a:p>
          <a:p>
            <a:pPr marL="114300" indent="0" algn="just">
              <a:buNone/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Synchronization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The coordination of parallel tasks in real time, very often associated with communications. Often implemented by establishing a synchronization point within an application where a task may not proceed further until another task(s) reaches the same or logically equivalent point. Synchronization usually involves waiting by at least one task and can therefore cause a parallel application's wall clock execution time to increase.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468178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7878AF-9F66-1196-6469-A660AB862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6EBD8D7E-9445-2DDF-F220-24F0426600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General Parallel Computing Terminology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61AED7D-F86C-C3FA-AE3D-AFE4A92D9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29</a:t>
            </a:fld>
            <a:endParaRPr lang="en-US">
              <a:latin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3">
                <a:extLst>
                  <a:ext uri="{FF2B5EF4-FFF2-40B4-BE49-F238E27FC236}">
                    <a16:creationId xmlns:a16="http://schemas.microsoft.com/office/drawing/2014/main" id="{BA46557A-8B0B-0483-D686-CEC7A9A32B61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632151" y="1453241"/>
                <a:ext cx="10308565" cy="5404759"/>
              </a:xfrm>
              <a:prstGeom prst="rect">
                <a:avLst/>
              </a:prstGeom>
              <a:ln w="15875">
                <a:noFill/>
              </a:ln>
            </p:spPr>
            <p:txBody>
              <a:bodyPr vert="horz" lIns="91440" tIns="45720" rIns="91440" bIns="45720" rtlCol="0">
                <a:normAutofit lnSpcReduction="10000"/>
              </a:bodyPr>
              <a:lstStyle>
                <a:lvl1pPr marL="342900" indent="-228600" algn="l" defTabSz="914400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Font typeface="Arial" pitchFamily="34" charset="0"/>
                  <a:buChar char="•"/>
                  <a:defRPr sz="2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40080" indent="-228600" algn="l" defTabSz="914400" rtl="0" eaLnBrk="1" latinLnBrk="0" hangingPunct="1">
                  <a:spcBef>
                    <a:spcPct val="20000"/>
                  </a:spcBef>
                  <a:buClr>
                    <a:schemeClr val="accent2"/>
                  </a:buClr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05840" indent="-228600" algn="l" defTabSz="914400" rtl="0" eaLnBrk="1" latinLnBrk="0" hangingPunct="1">
                  <a:spcBef>
                    <a:spcPct val="20000"/>
                  </a:spcBef>
                  <a:buClr>
                    <a:schemeClr val="accent3"/>
                  </a:buClr>
                  <a:buFont typeface="Arial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80160" indent="-228600" algn="l" defTabSz="914400" rtl="0" eaLnBrk="1" latinLnBrk="0" hangingPunct="1">
                  <a:spcBef>
                    <a:spcPct val="20000"/>
                  </a:spcBef>
                  <a:buClr>
                    <a:schemeClr val="accent4"/>
                  </a:buClr>
                  <a:buFont typeface="Arial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54480" indent="-228600" algn="l" defTabSz="914400" rtl="0" eaLnBrk="1" latinLnBrk="0" hangingPunct="1">
                  <a:spcBef>
                    <a:spcPct val="20000"/>
                  </a:spcBef>
                  <a:buClr>
                    <a:schemeClr val="accent5"/>
                  </a:buClr>
                  <a:buFont typeface="Arial" pitchFamily="34" charset="0"/>
                  <a:buChar char="•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37360" indent="-182880" algn="l" defTabSz="914400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Font typeface="Arial" pitchFamily="34" charset="0"/>
                  <a:buChar char="•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920240" indent="-182880" algn="l" defTabSz="914400" rtl="0" eaLnBrk="1" latinLnBrk="0" hangingPunct="1">
                  <a:spcBef>
                    <a:spcPct val="20000"/>
                  </a:spcBef>
                  <a:buClr>
                    <a:schemeClr val="accent2"/>
                  </a:buClr>
                  <a:buFont typeface="Arial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103120" indent="-182880" algn="l" defTabSz="914400" rtl="0" eaLnBrk="1" latinLnBrk="0" hangingPunct="1">
                  <a:spcBef>
                    <a:spcPct val="20000"/>
                  </a:spcBef>
                  <a:buClr>
                    <a:schemeClr val="accent3"/>
                  </a:buClr>
                  <a:buFont typeface="Arial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286000" indent="-182880" algn="l" defTabSz="914400" rtl="0" eaLnBrk="1" latinLnBrk="0" hangingPunct="1">
                  <a:spcBef>
                    <a:spcPct val="20000"/>
                  </a:spcBef>
                  <a:buClr>
                    <a:schemeClr val="accent4"/>
                  </a:buClr>
                  <a:buFont typeface="Arial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:r>
                  <a:rPr lang="en-US" b="1" dirty="0" smtClean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Computational Granularity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: Granularity refers to how much computation is done before a task needs to communicate with other tasks</a:t>
                </a:r>
                <a:r>
                  <a:rPr lang="en-US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. It 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is the ratio of computation to communication in a parallel program</a:t>
                </a:r>
                <a:r>
                  <a:rPr lang="en-US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 algn="just"/>
                <a:r>
                  <a:rPr lang="en-US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There 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are two types</a:t>
                </a:r>
                <a:r>
                  <a:rPr lang="en-US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</a:p>
              <a:p>
                <a:pPr lvl="1" algn="just"/>
                <a:r>
                  <a:rPr lang="en-US" b="1" dirty="0" smtClean="0">
                    <a:solidFill>
                      <a:srgbClr val="00B05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Coarse-Grained</a:t>
                </a:r>
                <a:r>
                  <a:rPr lang="en-US" b="1" dirty="0">
                    <a:solidFill>
                      <a:srgbClr val="00B05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Large chunks of computation are done before communication happens</a:t>
                </a:r>
                <a:r>
                  <a:rPr lang="en-US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 lvl="2" algn="just"/>
                <a:r>
                  <a:rPr lang="en-US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Pros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: Less communication overhead, more efficiency</a:t>
                </a:r>
                <a:r>
                  <a:rPr lang="en-US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 lvl="2" algn="just"/>
                <a:r>
                  <a:rPr lang="en-US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Cons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: Less flexibility in load balancing</a:t>
                </a:r>
                <a:r>
                  <a:rPr lang="en-US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 lvl="1" algn="just"/>
                <a:r>
                  <a:rPr lang="en-US" b="1" dirty="0" smtClean="0">
                    <a:solidFill>
                      <a:srgbClr val="00B05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Fine-Grained</a:t>
                </a:r>
                <a:r>
                  <a:rPr lang="en-US" b="1" dirty="0">
                    <a:solidFill>
                      <a:srgbClr val="00B05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Small amounts of computation happen before communication</a:t>
                </a:r>
                <a:r>
                  <a:rPr lang="en-US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 lvl="2" algn="just"/>
                <a:r>
                  <a:rPr lang="en-US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Pros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: Better load balancing, suitable for highly dynamic tasks</a:t>
                </a:r>
                <a:r>
                  <a:rPr lang="en-US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 lvl="2" algn="just"/>
                <a:r>
                  <a:rPr lang="en-US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Cons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: High communication overhead, may slow down execution.</a:t>
                </a:r>
                <a:endParaRPr lang="en-US" sz="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r>
                  <a:rPr lang="en-US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Observed </a:t>
                </a:r>
                <a:r>
                  <a:rPr lang="en-US" b="1" dirty="0" smtClean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Speedup: </a:t>
                </a:r>
                <a:r>
                  <a:rPr lang="en-US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This 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measures how much faster a program runs when executed in parallel</a:t>
                </a:r>
                <a:r>
                  <a:rPr lang="en-US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. Observed 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speedup of a code which has been parallelized, defined as: </a:t>
                </a:r>
              </a:p>
              <a:p>
                <a:pPr algn="just"/>
                <a:endParaRPr lang="en-US" sz="1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14300" indent="0" algn="ctr">
                  <a:buNone/>
                </a:pPr>
                <a:r>
                  <a:rPr lang="en-US" sz="1800" dirty="0"/>
                  <a:t>Observed Speedup= </a:t>
                </a:r>
                <a14:m>
                  <m:oMath xmlns:m="http://schemas.openxmlformats.org/officeDocument/2006/math">
                    <m:r>
                      <a:rPr lang="en-US" sz="1800" b="0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f>
                      <m:fPr>
                        <m:ctrlPr>
                          <a:rPr lang="en-US" sz="180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altLang="en-US" sz="1800" b="0" i="0" dirty="0" smtClean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Time</m:t>
                        </m:r>
                        <m:r>
                          <m:rPr>
                            <m:nor/>
                          </m:rPr>
                          <a:rPr lang="en-US" altLang="en-US" sz="1800" b="0" i="0" dirty="0" smtClean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en-US" sz="1800" b="0" i="0" dirty="0" smtClean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taken</m:t>
                        </m:r>
                        <m:r>
                          <m:rPr>
                            <m:nor/>
                          </m:rPr>
                          <a:rPr lang="en-US" altLang="en-US" sz="1800" b="0" i="0" dirty="0" smtClean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en-US" sz="1800" b="0" i="0" dirty="0" smtClean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in</m:t>
                        </m:r>
                        <m:r>
                          <m:rPr>
                            <m:nor/>
                          </m:rPr>
                          <a:rPr lang="en-US" altLang="en-US" sz="1800" b="0" i="0" dirty="0" smtClean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GB" altLang="en-US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serial</m:t>
                        </m:r>
                        <m:r>
                          <m:rPr>
                            <m:nor/>
                          </m:rPr>
                          <a:rPr lang="en-GB" altLang="en-US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GB" altLang="en-US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execution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altLang="en-US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Time</m:t>
                        </m:r>
                        <m:r>
                          <m:rPr>
                            <m:nor/>
                          </m:rPr>
                          <a:rPr lang="en-US" altLang="en-US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en-US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taken</m:t>
                        </m:r>
                        <m:r>
                          <m:rPr>
                            <m:nor/>
                          </m:rPr>
                          <a:rPr lang="en-US" altLang="en-US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en-US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in</m:t>
                        </m:r>
                        <m:r>
                          <m:rPr>
                            <m:nor/>
                          </m:rPr>
                          <a:rPr lang="en-US" altLang="en-US" sz="1800" b="0" i="0" dirty="0" smtClean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GB" altLang="en-US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parallel</m:t>
                        </m:r>
                        <m:r>
                          <m:rPr>
                            <m:nor/>
                          </m:rPr>
                          <a:rPr lang="en-GB" altLang="en-US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GB" altLang="en-US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execution</m:t>
                        </m:r>
                      </m:den>
                    </m:f>
                  </m:oMath>
                </a14:m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2" name="Rectangle 3">
                <a:extLst>
                  <a:ext uri="{FF2B5EF4-FFF2-40B4-BE49-F238E27FC236}">
                    <a16:creationId xmlns:a16="http://schemas.microsoft.com/office/drawing/2014/main" id="{BA46557A-8B0B-0483-D686-CEC7A9A32B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151" y="1453241"/>
                <a:ext cx="10308565" cy="5404759"/>
              </a:xfrm>
              <a:prstGeom prst="rect">
                <a:avLst/>
              </a:prstGeom>
              <a:blipFill>
                <a:blip r:embed="rId3"/>
                <a:stretch>
                  <a:fillRect t="-1240" r="-769"/>
                </a:stretch>
              </a:blipFill>
              <a:ln w="15875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5787930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FE82F5-3B06-61DA-CC02-DBEB7E46F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32F6FAC7-8E43-73EB-414E-3972BD8A2C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General Parallel Computing Terminology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F58F4AB-8676-F2BC-0F51-4F8E35E6C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30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1754FB14-8A0F-7F4E-807D-BEC0A90F31ED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1"/>
            <a:ext cx="10561320" cy="5404759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Parallel </a:t>
            </a:r>
            <a:r>
              <a:rPr lang="en-US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Overhead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100" dirty="0" smtClean="0">
                <a:latin typeface="Arial" panose="020B0604020202020204" pitchFamily="34" charset="0"/>
                <a:cs typeface="Arial" panose="020B0604020202020204" pitchFamily="34" charset="0"/>
              </a:rPr>
              <a:t>Extra 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execution time required only for parallel tasks (not useful computations</a:t>
            </a:r>
            <a:r>
              <a:rPr lang="en-US" sz="2100" dirty="0" smtClean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algn="just"/>
            <a:r>
              <a:rPr lang="en-US" sz="2100" b="1" dirty="0" smtClean="0">
                <a:latin typeface="Arial" panose="020B0604020202020204" pitchFamily="34" charset="0"/>
                <a:cs typeface="Arial" panose="020B0604020202020204" pitchFamily="34" charset="0"/>
              </a:rPr>
              <a:t>Cause</a:t>
            </a:r>
            <a:r>
              <a:rPr lang="en-US" sz="2100" b="1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Parallelization introduces additional tasks that don't exist in serial execution</a:t>
            </a:r>
            <a:r>
              <a:rPr lang="en-US" sz="21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r>
              <a:rPr lang="en-US" sz="2100" b="1" dirty="0" smtClean="0">
                <a:latin typeface="Arial" panose="020B0604020202020204" pitchFamily="34" charset="0"/>
                <a:cs typeface="Arial" panose="020B0604020202020204" pitchFamily="34" charset="0"/>
              </a:rPr>
              <a:t>Factors </a:t>
            </a:r>
            <a:r>
              <a:rPr lang="en-US" sz="2100" b="1" dirty="0">
                <a:latin typeface="Arial" panose="020B0604020202020204" pitchFamily="34" charset="0"/>
                <a:cs typeface="Arial" panose="020B0604020202020204" pitchFamily="34" charset="0"/>
              </a:rPr>
              <a:t>Contributing to Overhead</a:t>
            </a:r>
            <a:r>
              <a:rPr lang="en-US" sz="2100" b="1" dirty="0" smtClean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lvl="1" algn="just"/>
            <a:r>
              <a:rPr lang="en-US" sz="1900" dirty="0" smtClean="0">
                <a:latin typeface="Arial" panose="020B0604020202020204" pitchFamily="34" charset="0"/>
                <a:cs typeface="Arial" panose="020B0604020202020204" pitchFamily="34" charset="0"/>
              </a:rPr>
              <a:t>Task 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start-up time: Time needed to initialize parallel tasks</a:t>
            </a:r>
            <a:r>
              <a:rPr lang="en-US" sz="19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1" algn="just"/>
            <a:r>
              <a:rPr lang="en-US" sz="1900" dirty="0" smtClean="0">
                <a:latin typeface="Arial" panose="020B0604020202020204" pitchFamily="34" charset="0"/>
                <a:cs typeface="Arial" panose="020B0604020202020204" pitchFamily="34" charset="0"/>
              </a:rPr>
              <a:t>Synchronizations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: Time spent waiting for tasks to reach a common point</a:t>
            </a:r>
            <a:r>
              <a:rPr lang="en-US" sz="19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1" algn="just"/>
            <a:r>
              <a:rPr lang="en-US" sz="1900" dirty="0" smtClean="0">
                <a:latin typeface="Arial" panose="020B0604020202020204" pitchFamily="34" charset="0"/>
                <a:cs typeface="Arial" panose="020B0604020202020204" pitchFamily="34" charset="0"/>
              </a:rPr>
              <a:t>Data 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communications: Time taken to exchange data between processors</a:t>
            </a:r>
            <a:r>
              <a:rPr lang="en-US" sz="19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1" algn="just"/>
            <a:r>
              <a:rPr lang="en-US" sz="1900" dirty="0" smtClean="0">
                <a:latin typeface="Arial" panose="020B0604020202020204" pitchFamily="34" charset="0"/>
                <a:cs typeface="Arial" panose="020B0604020202020204" pitchFamily="34" charset="0"/>
              </a:rPr>
              <a:t>Software 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overhead: Extra processing due to parallel programming languages, libraries, and OS management</a:t>
            </a:r>
            <a:r>
              <a:rPr lang="en-US" sz="19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1" algn="just"/>
            <a:r>
              <a:rPr lang="en-US" sz="1900" dirty="0" smtClean="0">
                <a:latin typeface="Arial" panose="020B0604020202020204" pitchFamily="34" charset="0"/>
                <a:cs typeface="Arial" panose="020B0604020202020204" pitchFamily="34" charset="0"/>
              </a:rPr>
              <a:t>Task 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termination time: Time spent in wrapping up parallel execution.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Massively </a:t>
            </a:r>
            <a:r>
              <a:rPr lang="en-US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Parallel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: A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computing system with many processing elements working together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. Earlier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many meant hundreds of processors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. Today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supercomputers have hundreds of thousands to millions of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processors</a:t>
            </a:r>
          </a:p>
          <a:p>
            <a:pPr algn="just"/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Examples: GPU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clusters with thousands of cores.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2864766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7D621A-D998-EDE2-0993-002AF8103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1AC0BC8C-EBF6-C585-0374-3C567AAABA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General Parallel Computing Terminology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927ADA8-7345-0E2F-295F-2D205A050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31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2EAA7415-6851-E5B4-AC3B-70FCE500F34D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1"/>
            <a:ext cx="10561320" cy="5404759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Embarrassingly (IDEALLY) Parallel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A problem that can be easily parallelized because tasks are independent and require little or no communication. No synchronization or coordination needed between tasks</a:t>
            </a:r>
            <a:r>
              <a:rPr lang="en-US" sz="21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Scalability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The ability of a parallel system (hardware/software) to increase speedup proportionally when more resources (processors) are added. Factors that contribute to scalability include: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Hardware limitations –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CPU/memory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bandwidth and network speed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1" algn="just"/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Application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algorithm – Some algorithms parallelize well, others do not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1" algn="just"/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Parallel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overhead – Too much overhead can limit scalability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1" algn="just"/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Application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characteristics – Code structure can affect parallel efficiency.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2695649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44A018-1B5C-2C00-0AC8-55A2878E5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41DA21FA-3E48-BB10-2F35-C52BC2804E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10149840" cy="407507"/>
          </a:xfrm>
        </p:spPr>
        <p:txBody>
          <a:bodyPr/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Design Goals of Parallel and Distributed Computing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5287F77-82E7-1ACC-F1F3-9D14C7A62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32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F3D4B723-AA69-669D-F6DF-E3C662D859D4}"/>
              </a:ext>
            </a:extLst>
          </p:cNvPr>
          <p:cNvSpPr txBox="1">
            <a:spLocks noChangeArrowheads="1"/>
          </p:cNvSpPr>
          <p:nvPr/>
        </p:nvSpPr>
        <p:spPr>
          <a:xfrm>
            <a:off x="632150" y="1453242"/>
            <a:ext cx="10607349" cy="5109484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6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Performance Improvement</a:t>
            </a:r>
          </a:p>
          <a:p>
            <a:pPr lvl="1" algn="just">
              <a:spcBef>
                <a:spcPts val="600"/>
              </a:spcBef>
            </a:pP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Speedup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Execute tasks faster by dividing the workload among multiple processors.</a:t>
            </a:r>
          </a:p>
          <a:p>
            <a:pPr lvl="1" algn="just">
              <a:spcBef>
                <a:spcPts val="600"/>
              </a:spcBef>
            </a:pP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 Throughput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Perform many tasks concurrently.</a:t>
            </a:r>
          </a:p>
          <a:p>
            <a:pPr lvl="1" algn="just">
              <a:spcBef>
                <a:spcPts val="600"/>
              </a:spcBef>
            </a:pP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Low Latency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Reduce time to complete individual tasks through parallel execution.</a:t>
            </a:r>
          </a:p>
          <a:p>
            <a:pPr algn="just">
              <a:spcBef>
                <a:spcPts val="600"/>
              </a:spcBef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6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Scalability</a:t>
            </a:r>
          </a:p>
          <a:p>
            <a:pPr lvl="1" algn="just">
              <a:spcBef>
                <a:spcPts val="600"/>
              </a:spcBef>
            </a:pP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Horizontal Scalability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Add more nodes/processors without significant reconfiguration.</a:t>
            </a:r>
          </a:p>
          <a:p>
            <a:pPr lvl="1" algn="just">
              <a:spcBef>
                <a:spcPts val="600"/>
              </a:spcBef>
            </a:pP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Vertical Scalability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Increase the power of existing nodes.</a:t>
            </a:r>
          </a:p>
          <a:p>
            <a:pPr lvl="1" algn="just">
              <a:spcBef>
                <a:spcPts val="600"/>
              </a:spcBef>
            </a:pP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Load Balancing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Efficiently distribute work across available resources to prevent bottlenecks.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58534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BF9B21-12DA-CDC9-FE2B-FD7E67111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6FD3955B-6149-019D-B1AB-9FEE57D2DB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10149840" cy="407507"/>
          </a:xfrm>
        </p:spPr>
        <p:txBody>
          <a:bodyPr/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Design Goals of Parallel and Distributed Computing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D40B0C3-D0CA-938D-255E-DD30E935A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33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ACE79187-BA7C-4E19-8A31-12EFCC246855}"/>
              </a:ext>
            </a:extLst>
          </p:cNvPr>
          <p:cNvSpPr txBox="1">
            <a:spLocks noChangeArrowheads="1"/>
          </p:cNvSpPr>
          <p:nvPr/>
        </p:nvSpPr>
        <p:spPr>
          <a:xfrm>
            <a:off x="632150" y="1453242"/>
            <a:ext cx="10502575" cy="5109484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6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Reliability and Fault Tolerance</a:t>
            </a:r>
          </a:p>
          <a:p>
            <a:pPr lvl="1" algn="just">
              <a:spcBef>
                <a:spcPts val="600"/>
              </a:spcBef>
            </a:pP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Redundancy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Ensure backup systems are available in case of failure.</a:t>
            </a:r>
          </a:p>
          <a:p>
            <a:pPr lvl="1" algn="just">
              <a:spcBef>
                <a:spcPts val="600"/>
              </a:spcBef>
            </a:pP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Replication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Duplicate critical data and services across nodes.</a:t>
            </a:r>
          </a:p>
          <a:p>
            <a:pPr lvl="1" algn="just">
              <a:spcBef>
                <a:spcPts val="600"/>
              </a:spcBef>
            </a:pP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Recovery Mechanism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Enable quick recovery after failures through checkpointing and rollback mechanisms.</a:t>
            </a:r>
          </a:p>
          <a:p>
            <a:pPr algn="just">
              <a:spcBef>
                <a:spcPts val="600"/>
              </a:spcBef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6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Resource Sharing and Utilization</a:t>
            </a:r>
          </a:p>
          <a:p>
            <a:pPr lvl="1" algn="just">
              <a:spcBef>
                <a:spcPts val="600"/>
              </a:spcBef>
            </a:pP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Efficient Resource Utilization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Optimize the use of computational resources like CPU, memory, and network bandwidth.</a:t>
            </a:r>
          </a:p>
          <a:p>
            <a:pPr lvl="1" algn="just">
              <a:spcBef>
                <a:spcPts val="600"/>
              </a:spcBef>
            </a:pP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Multi-user Support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Allow multiple users or tasks to share and access resources concurrently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11554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921685-45CA-CCA8-160C-DBC0B523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F9843997-E2FE-D349-F22F-9049ECBE8E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10149840" cy="407507"/>
          </a:xfrm>
        </p:spPr>
        <p:txBody>
          <a:bodyPr/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Design Goals of Parallel and Distributed Computing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26B29A6-56CB-AFAC-A44E-259F51273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34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6054657B-8208-4E63-3823-23FA9AC03541}"/>
              </a:ext>
            </a:extLst>
          </p:cNvPr>
          <p:cNvSpPr txBox="1">
            <a:spLocks noChangeArrowheads="1"/>
          </p:cNvSpPr>
          <p:nvPr/>
        </p:nvSpPr>
        <p:spPr>
          <a:xfrm>
            <a:off x="632150" y="1453242"/>
            <a:ext cx="10502575" cy="5404758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6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Transparency</a:t>
            </a:r>
          </a:p>
          <a:p>
            <a:pPr lvl="1" algn="just">
              <a:spcBef>
                <a:spcPts val="600"/>
              </a:spcBef>
            </a:pP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Access Transparency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Users do not need to know the physical location of resources.</a:t>
            </a:r>
          </a:p>
          <a:p>
            <a:pPr lvl="1" algn="just">
              <a:spcBef>
                <a:spcPts val="600"/>
              </a:spcBef>
            </a:pP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Location Transparency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Resource location changes are hidden from users.</a:t>
            </a:r>
          </a:p>
          <a:p>
            <a:pPr lvl="1" algn="just">
              <a:spcBef>
                <a:spcPts val="600"/>
              </a:spcBef>
            </a:pP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Replication Transparency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Users are unaware of the presence of multiple copies.</a:t>
            </a:r>
          </a:p>
          <a:p>
            <a:pPr lvl="1" algn="just">
              <a:spcBef>
                <a:spcPts val="600"/>
              </a:spcBef>
            </a:pP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Concurrency Transparency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Multiple processes execute simultaneously without conflict.</a:t>
            </a:r>
          </a:p>
          <a:p>
            <a:pPr lvl="1" algn="just">
              <a:spcBef>
                <a:spcPts val="600"/>
              </a:spcBef>
            </a:pP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Failure Transparency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Failures are masked from users to ensure uninterrupted service.</a:t>
            </a:r>
          </a:p>
          <a:p>
            <a:pPr algn="just">
              <a:spcBef>
                <a:spcPts val="600"/>
              </a:spcBef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6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Modularity and Flexibility</a:t>
            </a:r>
          </a:p>
          <a:p>
            <a:pPr lvl="1" algn="just">
              <a:spcBef>
                <a:spcPts val="600"/>
              </a:spcBef>
            </a:pP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Modularity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Design systems as independent components that can be developed, tested, and maintained separately.</a:t>
            </a:r>
          </a:p>
          <a:p>
            <a:pPr lvl="1" algn="just">
              <a:spcBef>
                <a:spcPts val="600"/>
              </a:spcBef>
            </a:pP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Flexibility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Easily upgrade, modify, or reconfigure the system without major overhauls.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84080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1C248B-6637-E94F-D57F-96C6C8593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5D3C117B-D06C-49D8-306E-6FC50CB601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10149840" cy="407507"/>
          </a:xfrm>
        </p:spPr>
        <p:txBody>
          <a:bodyPr/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Design Goals of Parallel and Distributed Computing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9519898-CBAF-A975-0475-F3F75AB38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35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456D551-3781-023F-AD1E-4F7FCC8C820B}"/>
              </a:ext>
            </a:extLst>
          </p:cNvPr>
          <p:cNvSpPr txBox="1">
            <a:spLocks noChangeArrowheads="1"/>
          </p:cNvSpPr>
          <p:nvPr/>
        </p:nvSpPr>
        <p:spPr>
          <a:xfrm>
            <a:off x="632150" y="1453242"/>
            <a:ext cx="10502575" cy="5404758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600"/>
              </a:spcBef>
            </a:pP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Heterogeneity Support: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lvl="1" algn="just">
              <a:spcBef>
                <a:spcPts val="6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Support for diverse hardware, operating systems, and network protocols to ensure seamless integration and communication.</a:t>
            </a:r>
          </a:p>
          <a:p>
            <a:pPr algn="just">
              <a:spcBef>
                <a:spcPts val="600"/>
              </a:spcBef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600"/>
              </a:spcBef>
            </a:pP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Cost Effectiveness</a:t>
            </a:r>
          </a:p>
          <a:p>
            <a:pPr lvl="1" algn="just">
              <a:spcBef>
                <a:spcPts val="6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Utilize cost-effective commodity hardware.</a:t>
            </a:r>
          </a:p>
          <a:p>
            <a:pPr lvl="1" algn="just">
              <a:spcBef>
                <a:spcPts val="6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Reduce operational costs through optimized parallel and distributed processing.</a:t>
            </a:r>
          </a:p>
          <a:p>
            <a:pPr lvl="1" algn="just">
              <a:spcBef>
                <a:spcPts val="600"/>
              </a:spcBef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600"/>
              </a:spcBef>
            </a:pP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Security and Privacy</a:t>
            </a:r>
          </a:p>
          <a:p>
            <a:pPr lvl="1" algn="just">
              <a:spcBef>
                <a:spcPts val="6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Implement robust security measures like encryption, authentication, and secure communication to protect data in distributed environments.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67455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Types of Parallel Systems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36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A773B303-CEA4-39FE-8190-A77ECCC638B8}"/>
              </a:ext>
            </a:extLst>
          </p:cNvPr>
          <p:cNvSpPr txBox="1">
            <a:spLocks noChangeArrowheads="1"/>
          </p:cNvSpPr>
          <p:nvPr/>
        </p:nvSpPr>
        <p:spPr>
          <a:xfrm>
            <a:off x="632152" y="1453241"/>
            <a:ext cx="10436901" cy="5404759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Shared Memory Systems:</a:t>
            </a:r>
          </a:p>
          <a:p>
            <a:pPr lvl="1" algn="just">
              <a:spcBef>
                <a:spcPts val="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Multiple processors share a single address space (RAM)</a:t>
            </a:r>
          </a:p>
          <a:p>
            <a:pPr lvl="1" algn="just">
              <a:spcBef>
                <a:spcPts val="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Communication happen through shared variables</a:t>
            </a:r>
          </a:p>
          <a:p>
            <a:pPr lvl="1" algn="just">
              <a:spcBef>
                <a:spcPts val="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Examples:</a:t>
            </a:r>
          </a:p>
          <a:p>
            <a:pPr lvl="2" algn="just">
              <a:spcBef>
                <a:spcPts val="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symmetric multiprocessing (SMP) </a:t>
            </a:r>
          </a:p>
          <a:p>
            <a:pPr lvl="2" algn="just">
              <a:spcBef>
                <a:spcPts val="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NUMA (non-uniform memory access)</a:t>
            </a:r>
          </a:p>
          <a:p>
            <a:pPr lvl="1" algn="just">
              <a:spcBef>
                <a:spcPts val="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Pros: Low communication overhead, easy programming</a:t>
            </a:r>
          </a:p>
          <a:p>
            <a:pPr lvl="1" algn="just">
              <a:spcBef>
                <a:spcPts val="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Cons: Scalability issues, memory access bottlenecks</a:t>
            </a:r>
          </a:p>
          <a:p>
            <a:pPr algn="just">
              <a:spcBef>
                <a:spcPts val="0"/>
              </a:spcBef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Distributed Memory Systems:</a:t>
            </a:r>
          </a:p>
          <a:p>
            <a:pPr lvl="1" algn="just">
              <a:spcBef>
                <a:spcPts val="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Each processor has its own private memory</a:t>
            </a:r>
          </a:p>
          <a:p>
            <a:pPr lvl="1" algn="just">
              <a:spcBef>
                <a:spcPts val="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Processes communicate using message passing (MPI, PVM)</a:t>
            </a:r>
          </a:p>
          <a:p>
            <a:pPr lvl="1" algn="just">
              <a:spcBef>
                <a:spcPts val="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Examples:</a:t>
            </a:r>
          </a:p>
          <a:p>
            <a:pPr lvl="2" algn="just">
              <a:spcBef>
                <a:spcPts val="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Cluster Computing</a:t>
            </a:r>
          </a:p>
          <a:p>
            <a:pPr lvl="2" algn="just">
              <a:spcBef>
                <a:spcPts val="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Massively Parallel Processors (MPP)</a:t>
            </a:r>
          </a:p>
          <a:p>
            <a:pPr lvl="1" algn="just">
              <a:spcBef>
                <a:spcPts val="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Pros: High scalability, cost-effective</a:t>
            </a:r>
          </a:p>
          <a:p>
            <a:pPr lvl="1" algn="just">
              <a:spcBef>
                <a:spcPts val="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Cons: Complex programming, data consistency challenges</a:t>
            </a:r>
            <a:endParaRPr lang="en-US" b="1" i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5531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54257-4177-31F9-33F2-47695B826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E31A39C6-F95B-34AA-3925-B49CEE7BB7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Types of Parallel Systems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0D38BB2-D95F-DE7E-0F4F-40692B752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37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D801BC35-088F-B679-40BF-BB2AB0A78E3E}"/>
              </a:ext>
            </a:extLst>
          </p:cNvPr>
          <p:cNvSpPr txBox="1">
            <a:spLocks noChangeArrowheads="1"/>
          </p:cNvSpPr>
          <p:nvPr/>
        </p:nvSpPr>
        <p:spPr>
          <a:xfrm>
            <a:off x="632152" y="1453241"/>
            <a:ext cx="10468985" cy="5404759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Hybrid Systems (Distributed Shared Memory):</a:t>
            </a:r>
          </a:p>
          <a:p>
            <a:pPr lvl="1" algn="just">
              <a:spcBef>
                <a:spcPts val="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Combines shared memory and distributed memory models</a:t>
            </a:r>
          </a:p>
          <a:p>
            <a:pPr lvl="1" algn="just">
              <a:spcBef>
                <a:spcPts val="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Allows processes to communicate either through shared memory or message passing</a:t>
            </a:r>
          </a:p>
          <a:p>
            <a:pPr lvl="1" algn="just">
              <a:spcBef>
                <a:spcPts val="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Examples:</a:t>
            </a:r>
          </a:p>
          <a:p>
            <a:pPr lvl="2" algn="just">
              <a:spcBef>
                <a:spcPts val="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Intel Xeon Phi, Cray supercomputers</a:t>
            </a:r>
          </a:p>
          <a:p>
            <a:pPr lvl="2" algn="just">
              <a:spcBef>
                <a:spcPts val="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NUMA (non-uniform memory access)</a:t>
            </a:r>
          </a:p>
          <a:p>
            <a:pPr algn="just">
              <a:spcBef>
                <a:spcPts val="0"/>
              </a:spcBef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SIMD vs. MIMD Systems:</a:t>
            </a:r>
          </a:p>
          <a:p>
            <a:pPr lvl="1" algn="just">
              <a:spcBef>
                <a:spcPts val="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SIMD (Single Instruction, Multiple Data) – One instruction operates on multiple data streams (e.g., GPUs). </a:t>
            </a:r>
          </a:p>
          <a:p>
            <a:pPr lvl="1" algn="just">
              <a:spcBef>
                <a:spcPts val="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MIMD (Multiple Instruction, Multiple Data) – Different processors execute different instructions independently.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61705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BA32C-3E09-70A4-6DFA-98C51EAA0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C00CB87D-8CD7-9FBB-7B5D-16BD6E2C6F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Types of Distributed Systems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45CED6E-FCA9-D561-3EE5-C09F3F418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38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6F8E73B3-9392-9096-081B-15B2E925BD32}"/>
              </a:ext>
            </a:extLst>
          </p:cNvPr>
          <p:cNvSpPr txBox="1">
            <a:spLocks noChangeArrowheads="1"/>
          </p:cNvSpPr>
          <p:nvPr/>
        </p:nvSpPr>
        <p:spPr>
          <a:xfrm>
            <a:off x="632152" y="1453241"/>
            <a:ext cx="10468985" cy="5404759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Cluster Computing</a:t>
            </a:r>
          </a:p>
          <a:p>
            <a:pPr lvl="1" algn="just">
              <a:spcBef>
                <a:spcPts val="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Multiple computers (nodes) work together as a single logical unit.</a:t>
            </a:r>
          </a:p>
          <a:p>
            <a:pPr lvl="1" algn="just">
              <a:spcBef>
                <a:spcPts val="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Typically uses high-speed local networks (LAN).</a:t>
            </a:r>
          </a:p>
          <a:p>
            <a:pPr lvl="1" algn="just">
              <a:spcBef>
                <a:spcPts val="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Example: Beowulf Clusters, Apache Hadoop Clusters.</a:t>
            </a:r>
          </a:p>
          <a:p>
            <a:pPr lvl="1" algn="just">
              <a:spcBef>
                <a:spcPts val="0"/>
              </a:spcBef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Grid Computing</a:t>
            </a:r>
          </a:p>
          <a:p>
            <a:pPr lvl="1" algn="just">
              <a:spcBef>
                <a:spcPts val="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Uses geographically distributed computers to perform large-scale computations.</a:t>
            </a:r>
          </a:p>
          <a:p>
            <a:pPr lvl="1" algn="just">
              <a:spcBef>
                <a:spcPts val="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Typically, loosely coupled compared to clusters.</a:t>
            </a:r>
          </a:p>
          <a:p>
            <a:pPr lvl="1" algn="just">
              <a:spcBef>
                <a:spcPts val="0"/>
              </a:spcBef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Cloud Computing</a:t>
            </a:r>
          </a:p>
          <a:p>
            <a:pPr lvl="1" algn="just">
              <a:spcBef>
                <a:spcPts val="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Uses virtualized distributed resources over the Internet.</a:t>
            </a:r>
          </a:p>
          <a:p>
            <a:pPr lvl="1" algn="just">
              <a:spcBef>
                <a:spcPts val="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Provides services like IaaS, PaaS, SaaS.</a:t>
            </a:r>
          </a:p>
          <a:p>
            <a:pPr lvl="1" algn="just">
              <a:spcBef>
                <a:spcPts val="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Example: AWS, Google Cloud, Microsoft Azure.</a:t>
            </a:r>
          </a:p>
          <a:p>
            <a:pPr lvl="1" algn="just">
              <a:spcBef>
                <a:spcPts val="0"/>
              </a:spcBef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4753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91F76-C7CF-6661-ABE4-800571871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FC9B6B1C-B598-E184-D705-84433B506B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Types of Distributed Systems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B96DCA-0D01-77AD-E456-533AE398C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39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DA30B921-B1C7-ABDE-FE8A-609F6FF543E2}"/>
              </a:ext>
            </a:extLst>
          </p:cNvPr>
          <p:cNvSpPr txBox="1">
            <a:spLocks noChangeArrowheads="1"/>
          </p:cNvSpPr>
          <p:nvPr/>
        </p:nvSpPr>
        <p:spPr>
          <a:xfrm>
            <a:off x="632152" y="1453241"/>
            <a:ext cx="10468985" cy="5404759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Peer-to-Peer (P2P) Systems</a:t>
            </a:r>
          </a:p>
          <a:p>
            <a:pPr lvl="1" algn="just">
              <a:spcBef>
                <a:spcPts val="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No central authority; all nodes are equal and communicate directly.</a:t>
            </a:r>
          </a:p>
          <a:p>
            <a:pPr lvl="1" algn="just">
              <a:spcBef>
                <a:spcPts val="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Used in file sharing, cryptocurrencies, decentralized networks.</a:t>
            </a:r>
          </a:p>
          <a:p>
            <a:pPr lvl="1" algn="just">
              <a:spcBef>
                <a:spcPts val="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Example: BitTorrent, Ethereum blockchain.</a:t>
            </a:r>
          </a:p>
          <a:p>
            <a:pPr lvl="1" algn="just">
              <a:spcBef>
                <a:spcPts val="0"/>
              </a:spcBef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Internet of Things (IoT) Systems</a:t>
            </a:r>
          </a:p>
          <a:p>
            <a:pPr lvl="1" algn="just">
              <a:spcBef>
                <a:spcPts val="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Distributed network of smart devices that process and share data.</a:t>
            </a:r>
          </a:p>
          <a:p>
            <a:pPr lvl="1" algn="just">
              <a:spcBef>
                <a:spcPts val="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Uses Edge &amp; Fog Computing to process data closer to the source.</a:t>
            </a:r>
          </a:p>
          <a:p>
            <a:pPr lvl="1" algn="just">
              <a:spcBef>
                <a:spcPts val="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Example: Smart Cities, Industrial IoT.</a:t>
            </a:r>
          </a:p>
          <a:p>
            <a:pPr marL="411480" lvl="1" indent="0" algn="just">
              <a:spcBef>
                <a:spcPts val="0"/>
              </a:spcBef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9934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A89AF-80C6-080B-DA55-D19245C6A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207D8777-DD50-EF28-EACB-50D19112F0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1033272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Comparison of Parallel vs. Distributed Systems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633AE48-5034-5551-975D-55917AEBC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40</a:t>
            </a:fld>
            <a:endParaRPr lang="en-US">
              <a:latin typeface="Calibri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3CF294D-7D4E-A8D3-2E1A-5E25028CF4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4087173"/>
              </p:ext>
            </p:extLst>
          </p:nvPr>
        </p:nvGraphicFramePr>
        <p:xfrm>
          <a:off x="1213853" y="2103120"/>
          <a:ext cx="914400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977038123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063747103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445474110"/>
                    </a:ext>
                  </a:extLst>
                </a:gridCol>
              </a:tblGrid>
              <a:tr h="44196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Parallel Systems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Distributed Systems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1961182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Memory Sharing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Shared or Distributed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Completely Distributed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7148664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Communication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Fast, Low Latency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Uses Networks (LAN/WAN)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69238438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Scalability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Limited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Highly Scalable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7901439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Fault Tolerance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Lower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315639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Use Cases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HPC, Scientific Simulations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Cloud, IoT, Big Data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8291382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939910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3E982-E5B6-AC46-1040-4B3A10333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0A81A515-3769-7490-E18B-48FE8F0562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10149840" cy="407507"/>
          </a:xfrm>
        </p:spPr>
        <p:txBody>
          <a:bodyPr/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Enabling Technologies for PDC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57BB7C6-2374-9A79-653B-DCA0F85A3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41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AB7B1E0B-D82C-ACA2-C34A-5C8AEB41496F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2"/>
            <a:ext cx="10436902" cy="5404758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 lnSpcReduction="10000"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600"/>
              </a:spcBef>
            </a:pP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Hardware: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lvl="1" algn="just">
              <a:spcBef>
                <a:spcPts val="6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Multicore Processors </a:t>
            </a:r>
          </a:p>
          <a:p>
            <a:pPr lvl="2" algn="just">
              <a:spcBef>
                <a:spcPts val="6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CPUs with multiple cores for parallel execution (e.g., Intel Xeon, AMD Ryzen).</a:t>
            </a:r>
          </a:p>
          <a:p>
            <a:pPr lvl="1" algn="just">
              <a:spcBef>
                <a:spcPts val="600"/>
              </a:spcBef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>
              <a:spcBef>
                <a:spcPts val="6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GPUs (Graphics Processing Units)</a:t>
            </a:r>
          </a:p>
          <a:p>
            <a:pPr lvl="2" algn="just">
              <a:spcBef>
                <a:spcPts val="6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Parallel execution of thousands of threads (e.g., NVIDIA CUDA, AMD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ROCm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lvl="1" algn="just">
              <a:spcBef>
                <a:spcPts val="600"/>
              </a:spcBef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>
              <a:spcBef>
                <a:spcPts val="6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FPGAs (Field-Programmable Gate Arrays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 algn="just">
              <a:spcBef>
                <a:spcPts val="6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Reconfigurable hardware optimized for specific parallel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tasks(e.g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., Xilinx, Intel FPGA).</a:t>
            </a:r>
          </a:p>
          <a:p>
            <a:pPr lvl="1" algn="just">
              <a:spcBef>
                <a:spcPts val="600"/>
              </a:spcBef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>
              <a:spcBef>
                <a:spcPts val="6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High-Speed Networks: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Networks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that facilitate fast data transfer between computing nodes in distributed systems.</a:t>
            </a:r>
          </a:p>
          <a:p>
            <a:pPr lvl="2" algn="just">
              <a:spcBef>
                <a:spcPts val="6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InfiniBand, Ethernet, RDMA for fast inter-node communication.</a:t>
            </a:r>
          </a:p>
          <a:p>
            <a:pPr lvl="1" algn="just">
              <a:spcBef>
                <a:spcPts val="600"/>
              </a:spcBef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>
              <a:spcBef>
                <a:spcPts val="6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Storage Technologies: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Storage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solutions designed for fast access and distributed data management.</a:t>
            </a:r>
          </a:p>
          <a:p>
            <a:pPr lvl="2" algn="just">
              <a:spcBef>
                <a:spcPts val="6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HDFS,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NVMe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Object Storage for distributed data access.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65852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79E02B-207B-80A7-2337-FECDA064E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09E006F6-1129-5C53-C52D-91DDE3D061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10149840" cy="407507"/>
          </a:xfrm>
        </p:spPr>
        <p:txBody>
          <a:bodyPr/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Enabling Technologies for PDC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4FF5ACE-0DD2-921C-66B4-BBDDAA6FE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42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58C79ADD-35B1-46C4-162A-431F0A540052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2"/>
            <a:ext cx="10436902" cy="5404758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600"/>
              </a:spcBef>
            </a:pP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Middleware and Communication: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lvl="1" algn="just">
              <a:spcBef>
                <a:spcPts val="6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Message Passing Interface (MPI) </a:t>
            </a:r>
          </a:p>
          <a:p>
            <a:pPr lvl="2" algn="just">
              <a:spcBef>
                <a:spcPts val="6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standardized communication protocol used in parallel computing.(e.g.,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OpenMPI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MPICH).</a:t>
            </a:r>
          </a:p>
          <a:p>
            <a:pPr lvl="1" algn="just">
              <a:spcBef>
                <a:spcPts val="600"/>
              </a:spcBef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>
              <a:spcBef>
                <a:spcPts val="6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Remote Procedure Call (RPC)</a:t>
            </a:r>
          </a:p>
          <a:p>
            <a:pPr lvl="2" algn="just">
              <a:spcBef>
                <a:spcPts val="6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protocol that enables function execution on a remote system as if it were local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. (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e.g.,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gRPC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Thrift).</a:t>
            </a:r>
          </a:p>
          <a:p>
            <a:pPr lvl="1" algn="just">
              <a:spcBef>
                <a:spcPts val="600"/>
              </a:spcBef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>
              <a:spcBef>
                <a:spcPts val="6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Distributed File Systems: File systems that allow multiple machines to access shared storage.</a:t>
            </a:r>
          </a:p>
          <a:p>
            <a:pPr lvl="2" algn="just">
              <a:spcBef>
                <a:spcPts val="6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HDFS, Google File System (GFS),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Ceph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1" algn="just">
              <a:spcBef>
                <a:spcPts val="600"/>
              </a:spcBef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>
              <a:spcBef>
                <a:spcPts val="6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Virtualization &amp; Containerization: Technologies that create isolated environments for applications, making them more portable and scalable.</a:t>
            </a:r>
          </a:p>
          <a:p>
            <a:pPr lvl="2" algn="just">
              <a:spcBef>
                <a:spcPts val="600"/>
              </a:spcBef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Vmware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KVM, Docker, Kubernetes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38617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988A1C-21BD-CD7A-3DA2-F5717F64C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EC55805E-43EA-A228-2581-7130C2593F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10149840" cy="407507"/>
          </a:xfrm>
        </p:spPr>
        <p:txBody>
          <a:bodyPr/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Enabling Technologies for PDC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FB5710E-CAC6-B001-C931-00A2AD74E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43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6C8840BA-23EC-8284-B268-27FC745773E8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2"/>
            <a:ext cx="10436902" cy="5404758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600"/>
              </a:spcBef>
            </a:pP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Cloud &amp; Edge Computing: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lvl="1" algn="just">
              <a:spcBef>
                <a:spcPts val="6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Virtual Machines (VMs) &amp; Hypervisors</a:t>
            </a:r>
          </a:p>
          <a:p>
            <a:pPr lvl="2" algn="just">
              <a:spcBef>
                <a:spcPts val="6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Xen, KVM, Hyper-V for cloud-based distributed computing.</a:t>
            </a:r>
          </a:p>
          <a:p>
            <a:pPr lvl="1" algn="just">
              <a:spcBef>
                <a:spcPts val="600"/>
              </a:spcBef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>
              <a:spcBef>
                <a:spcPts val="600"/>
              </a:spcBef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Serverless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Computing: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Serverless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computing is a cloud computing model where developers write and deploy code without managing or provisioning servers. The cloud provider dynamically allocates resources and automatically scales applications based on demand.</a:t>
            </a:r>
          </a:p>
          <a:p>
            <a:pPr lvl="2" algn="just">
              <a:spcBef>
                <a:spcPts val="6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AWS Lambda, Google Cloud Functions, Azure Functions</a:t>
            </a:r>
          </a:p>
          <a:p>
            <a:pPr lvl="1" algn="just">
              <a:spcBef>
                <a:spcPts val="600"/>
              </a:spcBef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>
              <a:spcBef>
                <a:spcPts val="6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Edge Computing Platforms: Edge computing is a distributed computing model where data processing and computation occur closer to the data source (i.e., at the "edge" of the network) rather than relying on a centralized cloud or data center.</a:t>
            </a:r>
          </a:p>
          <a:p>
            <a:pPr lvl="2" algn="just">
              <a:spcBef>
                <a:spcPts val="6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NVIDIA Jetson, Intel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OpenVINO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AWS Greengrass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3343105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475EA-330E-1B25-9A33-97065D946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DB50677F-B8E4-1460-79B2-2D7B3CBC00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10149840" cy="407507"/>
          </a:xfrm>
        </p:spPr>
        <p:txBody>
          <a:bodyPr/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Platforms for PDC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E33788F-FE35-1ACD-B048-996A15900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44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587213BE-490E-65FD-D0F4-8E2161AB1567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2"/>
            <a:ext cx="10436902" cy="5404758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600"/>
              </a:spcBef>
            </a:pP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 Performance Computing (HPC):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6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HPC involves supercomputers and clustered computing to solve complex computational problems.</a:t>
            </a:r>
          </a:p>
          <a:p>
            <a:pPr lvl="1" algn="just">
              <a:spcBef>
                <a:spcPts val="6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Supercomputers – IBM Summit,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Fugaku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Cray XC40.</a:t>
            </a:r>
          </a:p>
          <a:p>
            <a:pPr lvl="1" algn="just">
              <a:spcBef>
                <a:spcPts val="6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HPC Clusters – Linux-based Beowulf Clusters,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Slurm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Workload Manager.</a:t>
            </a:r>
          </a:p>
          <a:p>
            <a:pPr lvl="1" algn="just">
              <a:spcBef>
                <a:spcPts val="600"/>
              </a:spcBef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600"/>
              </a:spcBef>
            </a:pP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Cloud Computing: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6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Cloud computing provides on-demand computing resources over the internet, allowing flexible and scalable computing power.</a:t>
            </a:r>
          </a:p>
          <a:p>
            <a:pPr lvl="1" algn="just">
              <a:spcBef>
                <a:spcPts val="6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Amazon Web Services (AWS) – EC2, S3, Lambda, EMR.</a:t>
            </a:r>
          </a:p>
          <a:p>
            <a:pPr lvl="1" algn="just">
              <a:spcBef>
                <a:spcPts val="6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Microsoft Azure – Azure Virtual Machines, Kubernetes Service.</a:t>
            </a:r>
          </a:p>
          <a:p>
            <a:pPr lvl="1" algn="just">
              <a:spcBef>
                <a:spcPts val="6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Google Cloud Platform (GCP) – Compute Engine, Kubernetes,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BigQuery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1" algn="just">
              <a:spcBef>
                <a:spcPts val="600"/>
              </a:spcBef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600"/>
              </a:spcBef>
            </a:pP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Big Data Analytics: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6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Big data analytics platforms are used for processing large-scale datasets efficiently.</a:t>
            </a:r>
          </a:p>
          <a:p>
            <a:pPr lvl="1" algn="just">
              <a:spcBef>
                <a:spcPts val="6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Apache Hadoop – Distributed storage and processing (HDFS + MapReduce).</a:t>
            </a:r>
          </a:p>
          <a:p>
            <a:pPr lvl="1" algn="just">
              <a:spcBef>
                <a:spcPts val="6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Apache Spark – Fast in-memory distributed processing.</a:t>
            </a:r>
          </a:p>
          <a:p>
            <a:pPr lvl="1" algn="just">
              <a:spcBef>
                <a:spcPts val="6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Google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BigQuery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– Distributed cloud data warehouse.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5662146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73FFF4-24FB-30E4-F18C-13CF97574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C11EC75D-9BEB-4457-D3C2-AD36C04CE0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10149840" cy="407507"/>
          </a:xfrm>
        </p:spPr>
        <p:txBody>
          <a:bodyPr/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Platforms for PDC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E4D5858-9D85-456E-D617-0F19CBB2B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45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ACF37237-A2ED-94BE-E78D-7DE9613B372A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2"/>
            <a:ext cx="10436902" cy="5404758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600"/>
              </a:spcBef>
            </a:pP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Blockchain &amp; Distributed Ledger: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600"/>
              </a:spcBef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Blockchain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is a decentralized, distributed ledger used for secure transactions and data management without a central authority.</a:t>
            </a:r>
          </a:p>
          <a:p>
            <a:pPr lvl="1" algn="just">
              <a:spcBef>
                <a:spcPts val="6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Ethereum – Smart contracts and decentralized applications.</a:t>
            </a:r>
          </a:p>
          <a:p>
            <a:pPr lvl="1" algn="just">
              <a:spcBef>
                <a:spcPts val="6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Hyperledger Fabric – Enterprise blockchain solutions.</a:t>
            </a:r>
          </a:p>
          <a:p>
            <a:pPr lvl="1" algn="just">
              <a:spcBef>
                <a:spcPts val="600"/>
              </a:spcBef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600"/>
              </a:spcBef>
            </a:pP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IoT and Edge Computing</a:t>
            </a:r>
            <a:r>
              <a:rPr lang="en-US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algn="just">
              <a:spcBef>
                <a:spcPts val="6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IoT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(Internet of Things) and Edge Computing focus on processing data closer to the source (edge devices) rather than sending it to centralized cloud servers.</a:t>
            </a:r>
          </a:p>
          <a:p>
            <a:pPr lvl="1" algn="just">
              <a:spcBef>
                <a:spcPts val="6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AWS IoT, Azure IoT Hub – Cloud-based IoT data processing.</a:t>
            </a:r>
          </a:p>
          <a:p>
            <a:pPr lvl="1" algn="just">
              <a:spcBef>
                <a:spcPts val="6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Google TensorFlow Lite – AI inference on edge devices.</a:t>
            </a:r>
          </a:p>
          <a:p>
            <a:pPr lvl="1" algn="just">
              <a:spcBef>
                <a:spcPts val="600"/>
              </a:spcBef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1559627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36558E-43EF-EBE0-93F8-C36349CB2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9D346291-E61E-EB5A-257D-5807CF3BFA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10149840" cy="407507"/>
          </a:xfrm>
        </p:spPr>
        <p:txBody>
          <a:bodyPr/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Software Environments for PDC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A146AE0-9257-A39B-5089-0CCC389D6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46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13060982-3896-5FA4-7194-50BF28BE1774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2"/>
            <a:ext cx="10436902" cy="5404758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600"/>
              </a:spcBef>
            </a:pP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Programming Models &amp; Languages: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lvl="1" algn="just">
              <a:spcBef>
                <a:spcPts val="6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Parallel Programming</a:t>
            </a:r>
          </a:p>
          <a:p>
            <a:pPr lvl="2" algn="just">
              <a:spcBef>
                <a:spcPts val="6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OpenMP (C, C++, Fortran) – Shared memory parallelism.</a:t>
            </a:r>
          </a:p>
          <a:p>
            <a:pPr lvl="2" algn="just">
              <a:spcBef>
                <a:spcPts val="6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MPI (C, C++, Python) – Message passing for distributed systems.</a:t>
            </a:r>
          </a:p>
          <a:p>
            <a:pPr lvl="2" algn="just">
              <a:spcBef>
                <a:spcPts val="6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CUDA (C, Python) – GPU programming for high-performance tasks.</a:t>
            </a:r>
          </a:p>
          <a:p>
            <a:pPr lvl="1" algn="just">
              <a:spcBef>
                <a:spcPts val="6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Distributed Programming</a:t>
            </a:r>
          </a:p>
          <a:p>
            <a:pPr lvl="2" algn="just">
              <a:spcBef>
                <a:spcPts val="6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Hadoop MapReduce (Java, Python) – Large-scale data processing.</a:t>
            </a:r>
          </a:p>
          <a:p>
            <a:pPr lvl="2" algn="just">
              <a:spcBef>
                <a:spcPts val="6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Apache Spark (Scala, Python) – Distributed in-memory computing.</a:t>
            </a:r>
          </a:p>
          <a:p>
            <a:pPr lvl="2" algn="just">
              <a:spcBef>
                <a:spcPts val="6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TensorFlow,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PyTorch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(Python) – Distributed deep learning.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>
              <a:spcBef>
                <a:spcPts val="6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General-Purpose Languages</a:t>
            </a:r>
          </a:p>
          <a:p>
            <a:pPr lvl="2" algn="just">
              <a:spcBef>
                <a:spcPts val="6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Python (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Dask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Ray) – Distributed computing frameworks.</a:t>
            </a:r>
          </a:p>
          <a:p>
            <a:pPr lvl="2" algn="just">
              <a:spcBef>
                <a:spcPts val="6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Rust – Safe and efficient parallel programming.</a:t>
            </a:r>
          </a:p>
          <a:p>
            <a:pPr lvl="2" algn="just">
              <a:spcBef>
                <a:spcPts val="6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Java, Scala – Used in cloud-based distributed systems.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9925977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4A745-1C05-3A8D-2399-C321D3D88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826C60EA-D185-65E1-5508-7B300ADE3F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10149840" cy="407507"/>
          </a:xfrm>
        </p:spPr>
        <p:txBody>
          <a:bodyPr/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Software Environments for PDC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54A0BD-CFD7-5F7F-975E-A7F55DB33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47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F4BFDF5C-6C25-7143-E9D5-CA3308933286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2"/>
            <a:ext cx="10436902" cy="5404758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600"/>
              </a:spcBef>
            </a:pP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Workflow Management &amp; Orchestration: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lvl="1" algn="just">
              <a:spcBef>
                <a:spcPts val="6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Apache Airflow – Distributed task scheduling.</a:t>
            </a:r>
          </a:p>
          <a:p>
            <a:pPr lvl="1" algn="just">
              <a:spcBef>
                <a:spcPts val="6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Kubernetes – Container orchestration for cloud and edge.</a:t>
            </a:r>
          </a:p>
          <a:p>
            <a:pPr lvl="1" algn="just">
              <a:spcBef>
                <a:spcPts val="6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Apache Kafka – Distributed streaming and event processing.</a:t>
            </a:r>
          </a:p>
          <a:p>
            <a:pPr lvl="1" algn="just">
              <a:spcBef>
                <a:spcPts val="600"/>
              </a:spcBef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600"/>
              </a:spcBef>
            </a:pP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Distributed Databases: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lvl="1" algn="just">
              <a:spcBef>
                <a:spcPts val="6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NoSQL Databases: Apache Cassandra, MongoDB, Google Bigtable.</a:t>
            </a:r>
          </a:p>
          <a:p>
            <a:pPr lvl="1" algn="just">
              <a:spcBef>
                <a:spcPts val="6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NewSQL Databases: Google Spanner,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CockroachDB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0875645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621FA-48D4-845A-6776-2F0EDC896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8E8A7B6A-E791-67C4-DD53-FE6913CBE5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10789920" cy="407507"/>
          </a:xfrm>
        </p:spPr>
        <p:txBody>
          <a:bodyPr/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Summary: Technologies, Platforms, and Software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EA4B3EE-7DFA-6E29-BE5D-6F66D6EE9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48</a:t>
            </a:fld>
            <a:endParaRPr lang="en-US">
              <a:latin typeface="Calibri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BB4E3EC-F85A-C931-BDC2-4DAD6327CF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963818"/>
              </p:ext>
            </p:extLst>
          </p:nvPr>
        </p:nvGraphicFramePr>
        <p:xfrm>
          <a:off x="764620" y="1869440"/>
          <a:ext cx="9935410" cy="3977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5605">
                  <a:extLst>
                    <a:ext uri="{9D8B030D-6E8A-4147-A177-3AD203B41FA5}">
                      <a16:colId xmlns:a16="http://schemas.microsoft.com/office/drawing/2014/main" val="3977038123"/>
                    </a:ext>
                  </a:extLst>
                </a:gridCol>
                <a:gridCol w="7059805">
                  <a:extLst>
                    <a:ext uri="{9D8B030D-6E8A-4147-A177-3AD203B41FA5}">
                      <a16:colId xmlns:a16="http://schemas.microsoft.com/office/drawing/2014/main" val="3063747103"/>
                    </a:ext>
                  </a:extLst>
                </a:gridCol>
              </a:tblGrid>
              <a:tr h="44196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Category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Examples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1961182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Hardware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Multicore CPUs, GPUs (NVIDIA, AMD), FPGAs, InfiniBand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7148664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Middleware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	MPI, RPC,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gRPC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Distributed File Systems (HDFS,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Ceph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69238438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Cloud Platform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AWS, Azure, Google Cloud, OpenStack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7901439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Big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Apache Hadoop, Spark, Google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BigQuery</a:t>
                      </a:r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315639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Edge Computing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NVIDIA Jetson, AWS Greengrass, </a:t>
                      </a:r>
                      <a:r>
                        <a:rPr lang="en-US" dirty="0" err="1"/>
                        <a:t>OpenVINO</a:t>
                      </a:r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9373169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Programming Models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OpenMP, MPI, CUDA,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Dask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Ray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1262011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Workflow Tools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Apache Airflow, Kubernetes, Apache Kafka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0065032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Databases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Apache Cassandra, Google Spanner, MongoDB</a:t>
                      </a:r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8291382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82766244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Adjacency">
  <a:themeElements>
    <a:clrScheme name="Adjacency">
      <a:dk1>
        <a:srgbClr val="2F2B20"/>
      </a:dk1>
      <a:lt1>
        <a:srgbClr val="FFFFFF"/>
      </a:lt1>
      <a:dk2>
        <a:srgbClr val="675E47"/>
      </a:dk2>
      <a:lt2>
        <a:srgbClr val="DFDCB7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32412</TotalTime>
  <Words>4308</Words>
  <Application>Microsoft Office PowerPoint</Application>
  <PresentationFormat>Widescreen</PresentationFormat>
  <Paragraphs>569</Paragraphs>
  <Slides>48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48</vt:i4>
      </vt:variant>
    </vt:vector>
  </HeadingPairs>
  <TitlesOfParts>
    <vt:vector size="55" baseType="lpstr">
      <vt:lpstr>Arial</vt:lpstr>
      <vt:lpstr>Calibri</vt:lpstr>
      <vt:lpstr>Calibri Light</vt:lpstr>
      <vt:lpstr>Cambria</vt:lpstr>
      <vt:lpstr>Cambria Math</vt:lpstr>
      <vt:lpstr>Office Theme</vt:lpstr>
      <vt:lpstr>Adjacency</vt:lpstr>
      <vt:lpstr>CSC 334 – Parallel and Distributed Computing</vt:lpstr>
      <vt:lpstr>Motivating Parallelism</vt:lpstr>
      <vt:lpstr>Motivating Parallelism</vt:lpstr>
      <vt:lpstr>Motivating Parallelism</vt:lpstr>
      <vt:lpstr>Motivating Parallelism</vt:lpstr>
      <vt:lpstr>The Computational Power Argument</vt:lpstr>
      <vt:lpstr>The Computational Power Argument</vt:lpstr>
      <vt:lpstr>The Computational Power Argument</vt:lpstr>
      <vt:lpstr>The Computational Power Argument</vt:lpstr>
      <vt:lpstr>The memory/Disk Speed Argument</vt:lpstr>
      <vt:lpstr>The Data Communication Argument</vt:lpstr>
      <vt:lpstr>Computing vs. Systems</vt:lpstr>
      <vt:lpstr>Parallel and Distributed Computing</vt:lpstr>
      <vt:lpstr>Scope of Parallel Computing Applications</vt:lpstr>
      <vt:lpstr>Scientific Applications</vt:lpstr>
      <vt:lpstr>Commercial Applications</vt:lpstr>
      <vt:lpstr>Applications in Computer Systems</vt:lpstr>
      <vt:lpstr>Von Neumann Architecture</vt:lpstr>
      <vt:lpstr>Von Neumann Architecture</vt:lpstr>
      <vt:lpstr>Flynn's Classical Taxonomy</vt:lpstr>
      <vt:lpstr>Single Instruction, Single Data (SISD)</vt:lpstr>
      <vt:lpstr>Single Instruction, Multiple Data (SIMD)</vt:lpstr>
      <vt:lpstr>Single Instruction, Multiple Data (SIMD)</vt:lpstr>
      <vt:lpstr>Multiple Instruction, Single Data (MISD)</vt:lpstr>
      <vt:lpstr>Multiple Instruction, Multiple Data (MIMD)</vt:lpstr>
      <vt:lpstr>General Parallel Computing Terminology</vt:lpstr>
      <vt:lpstr>General Parallel Computing Terminology</vt:lpstr>
      <vt:lpstr>General Parallel Computing Terminology</vt:lpstr>
      <vt:lpstr>General Parallel Computing Terminology</vt:lpstr>
      <vt:lpstr>General Parallel Computing Terminology</vt:lpstr>
      <vt:lpstr>General Parallel Computing Terminology</vt:lpstr>
      <vt:lpstr>Design Goals of Parallel and Distributed Computing</vt:lpstr>
      <vt:lpstr>Design Goals of Parallel and Distributed Computing</vt:lpstr>
      <vt:lpstr>Design Goals of Parallel and Distributed Computing</vt:lpstr>
      <vt:lpstr>Design Goals of Parallel and Distributed Computing</vt:lpstr>
      <vt:lpstr>Types of Parallel Systems</vt:lpstr>
      <vt:lpstr>Types of Parallel Systems</vt:lpstr>
      <vt:lpstr>Types of Distributed Systems</vt:lpstr>
      <vt:lpstr>Types of Distributed Systems</vt:lpstr>
      <vt:lpstr>Comparison of Parallel vs. Distributed Systems</vt:lpstr>
      <vt:lpstr>Enabling Technologies for PDC</vt:lpstr>
      <vt:lpstr>Enabling Technologies for PDC</vt:lpstr>
      <vt:lpstr>Enabling Technologies for PDC</vt:lpstr>
      <vt:lpstr>Platforms for PDC</vt:lpstr>
      <vt:lpstr>Platforms for PDC</vt:lpstr>
      <vt:lpstr>Software Environments for PDC</vt:lpstr>
      <vt:lpstr>Software Environments for PDC</vt:lpstr>
      <vt:lpstr>Summary: Technologies, Platforms, and Software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 334 – Parallel and Distributed Computing</dc:title>
  <dc:creator>Hasan Jamal</dc:creator>
  <cp:lastModifiedBy>INFO TECH</cp:lastModifiedBy>
  <cp:revision>129</cp:revision>
  <dcterms:created xsi:type="dcterms:W3CDTF">2020-06-08T03:46:58Z</dcterms:created>
  <dcterms:modified xsi:type="dcterms:W3CDTF">2025-09-04T09:38:30Z</dcterms:modified>
</cp:coreProperties>
</file>